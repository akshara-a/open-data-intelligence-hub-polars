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15" y="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4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15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55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68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7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0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8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56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95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9927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32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3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28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9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94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101" y="1597400"/>
            <a:ext cx="6620968" cy="2696762"/>
          </a:xfrm>
        </p:spPr>
        <p:txBody>
          <a:bodyPr/>
          <a:lstStyle/>
          <a:p>
            <a:pPr>
              <a:defRPr sz="3000">
                <a:latin typeface="Times New Roman"/>
              </a:defRPr>
            </a:pPr>
            <a:r>
              <a:rPr dirty="0"/>
              <a:t>Customer Churn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399180"/>
            <a:ext cx="6620968" cy="1273074"/>
          </a:xfrm>
        </p:spPr>
        <p:txBody>
          <a:bodyPr>
            <a:noAutofit/>
          </a:bodyPr>
          <a:lstStyle/>
          <a:p>
            <a:pPr>
              <a:defRPr sz="2000">
                <a:latin typeface="Times New Roman"/>
              </a:defRPr>
            </a:pPr>
            <a:r>
              <a:rPr sz="1200" dirty="0"/>
              <a:t>Optimized Classification Model with Feature Importance Analysis</a:t>
            </a:r>
          </a:p>
          <a:p>
            <a:pPr>
              <a:defRPr sz="2000">
                <a:latin typeface="Times New Roman"/>
              </a:defRPr>
            </a:pPr>
            <a:r>
              <a:rPr sz="1200" dirty="0"/>
              <a:t>Submitted By: Sanjana Manthena</a:t>
            </a:r>
          </a:p>
          <a:p>
            <a:pPr>
              <a:defRPr sz="2000">
                <a:latin typeface="Times New Roman"/>
              </a:defRPr>
            </a:pPr>
            <a:r>
              <a:rPr sz="1200" dirty="0"/>
              <a:t>G40 AIML</a:t>
            </a:r>
          </a:p>
          <a:p>
            <a:pPr>
              <a:defRPr sz="2000">
                <a:latin typeface="Times New Roman"/>
              </a:defRPr>
            </a:pPr>
            <a:r>
              <a:rPr sz="1200" dirty="0"/>
              <a:t>Task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Times New Roman"/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Predict telecom customer churn</a:t>
            </a:r>
          </a:p>
          <a:p>
            <a:pPr>
              <a:defRPr sz="2000">
                <a:latin typeface="Times New Roman"/>
              </a:defRPr>
            </a:pPr>
            <a:r>
              <a:t>Analyze customer behavior</a:t>
            </a:r>
          </a:p>
          <a:p>
            <a:pPr>
              <a:defRPr sz="2000">
                <a:latin typeface="Times New Roman"/>
              </a:defRPr>
            </a:pPr>
            <a:r>
              <a:t>Optimize classification models</a:t>
            </a:r>
          </a:p>
          <a:p>
            <a:pPr>
              <a:defRPr sz="2000">
                <a:latin typeface="Times New Roman"/>
              </a:defRPr>
            </a:pPr>
            <a:r>
              <a:t>Identify churn factors</a:t>
            </a:r>
          </a:p>
          <a:p>
            <a:pPr>
              <a:defRPr sz="2000">
                <a:latin typeface="Times New Roman"/>
              </a:defRPr>
            </a:pPr>
            <a:r>
              <a:t>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Times New Roman"/>
              </a:defRPr>
            </a:pPr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Telco Customer Churn Dataset</a:t>
            </a:r>
          </a:p>
          <a:p>
            <a:pPr>
              <a:defRPr sz="2000">
                <a:latin typeface="Times New Roman"/>
              </a:defRPr>
            </a:pPr>
            <a:r>
              <a:t>Demographics</a:t>
            </a:r>
          </a:p>
          <a:p>
            <a:pPr>
              <a:defRPr sz="2000">
                <a:latin typeface="Times New Roman"/>
              </a:defRPr>
            </a:pPr>
            <a:r>
              <a:t>Services</a:t>
            </a:r>
          </a:p>
          <a:p>
            <a:pPr>
              <a:defRPr sz="2000">
                <a:latin typeface="Times New Roman"/>
              </a:defRPr>
            </a:pPr>
            <a:r>
              <a:t>Charges</a:t>
            </a:r>
          </a:p>
          <a:p>
            <a:pPr>
              <a:defRPr sz="2000">
                <a:latin typeface="Times New Roman"/>
              </a:defRPr>
            </a:pPr>
            <a:r>
              <a:t>Target: Churn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Times New Roman"/>
              </a:defRPr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rPr lang="en-IN" dirty="0"/>
              <a:t>R</a:t>
            </a:r>
            <a:r>
              <a:rPr dirty="0" err="1"/>
              <a:t>emoved</a:t>
            </a:r>
            <a:r>
              <a:rPr dirty="0"/>
              <a:t> </a:t>
            </a:r>
            <a:r>
              <a:rPr dirty="0" err="1"/>
              <a:t>CustomerID</a:t>
            </a:r>
            <a:endParaRPr dirty="0"/>
          </a:p>
          <a:p>
            <a:pPr>
              <a:defRPr sz="2000">
                <a:latin typeface="Times New Roman"/>
              </a:defRPr>
            </a:pPr>
            <a:r>
              <a:rPr dirty="0"/>
              <a:t>Converted </a:t>
            </a:r>
            <a:r>
              <a:rPr dirty="0" err="1"/>
              <a:t>TotalCharges</a:t>
            </a:r>
            <a:endParaRPr dirty="0"/>
          </a:p>
          <a:p>
            <a:pPr>
              <a:defRPr sz="2000">
                <a:latin typeface="Times New Roman"/>
              </a:defRPr>
            </a:pPr>
            <a:r>
              <a:rPr dirty="0"/>
              <a:t>Handled missing values</a:t>
            </a:r>
          </a:p>
          <a:p>
            <a:pPr>
              <a:defRPr sz="2000">
                <a:latin typeface="Times New Roman"/>
              </a:defRPr>
            </a:pPr>
            <a:r>
              <a:rPr dirty="0"/>
              <a:t>Encoding</a:t>
            </a:r>
          </a:p>
          <a:p>
            <a:pPr>
              <a:defRPr sz="2000">
                <a:latin typeface="Times New Roman"/>
              </a:defRPr>
            </a:pPr>
            <a:r>
              <a:rPr dirty="0"/>
              <a:t>Scaling</a:t>
            </a:r>
          </a:p>
          <a:p>
            <a:pPr>
              <a:defRPr sz="2000">
                <a:latin typeface="Times New Roman"/>
              </a:defRPr>
            </a:pPr>
            <a:r>
              <a:rPr dirty="0"/>
              <a:t>Train/Test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Times New Roman"/>
              </a:defRPr>
            </a:pPr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Logistic Regression</a:t>
            </a:r>
          </a:p>
          <a:p>
            <a:pPr>
              <a:defRPr sz="2000">
                <a:latin typeface="Times New Roman"/>
              </a:defRPr>
            </a:pPr>
            <a:r>
              <a:t>Decision Tree</a:t>
            </a:r>
          </a:p>
          <a:p>
            <a:pPr>
              <a:defRPr sz="2000">
                <a:latin typeface="Times New Roman"/>
              </a:defRPr>
            </a:pPr>
            <a:r>
              <a:t>Random Forest</a:t>
            </a:r>
          </a:p>
          <a:p>
            <a:pPr>
              <a:defRPr sz="2000">
                <a:latin typeface="Times New Roman"/>
              </a:defRPr>
            </a:pPr>
            <a:r>
              <a:t>GridSearchCV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Times New Roman"/>
              </a:defRPr>
            </a:pPr>
            <a:r>
              <a:t>Hyperparameter Sensitivity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max_depth</a:t>
            </a:r>
          </a:p>
          <a:p>
            <a:pPr>
              <a:defRPr sz="2000">
                <a:latin typeface="Times New Roman"/>
              </a:defRPr>
            </a:pPr>
            <a:r>
              <a:t>n_estimators</a:t>
            </a:r>
          </a:p>
          <a:p>
            <a:pPr>
              <a:defRPr sz="2000">
                <a:latin typeface="Times New Roman"/>
              </a:defRPr>
            </a:pPr>
            <a:r>
              <a:t>Selected best parameters</a:t>
            </a:r>
          </a:p>
          <a:p>
            <a:pPr>
              <a:defRPr sz="2000">
                <a:latin typeface="Times New Roman"/>
              </a:defRPr>
            </a:pPr>
            <a:r>
              <a:t>Insert hyperparameter_sensitivity.png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Times New Roman"/>
              </a:defRPr>
            </a:pPr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Accuracy</a:t>
            </a:r>
          </a:p>
          <a:p>
            <a:pPr>
              <a:defRPr sz="2000">
                <a:latin typeface="Times New Roman"/>
              </a:defRPr>
            </a:pPr>
            <a:r>
              <a:t>Precision</a:t>
            </a:r>
          </a:p>
          <a:p>
            <a:pPr>
              <a:defRPr sz="2000">
                <a:latin typeface="Times New Roman"/>
              </a:defRPr>
            </a:pPr>
            <a:r>
              <a:t>Recall</a:t>
            </a:r>
          </a:p>
          <a:p>
            <a:pPr>
              <a:defRPr sz="2000">
                <a:latin typeface="Times New Roman"/>
              </a:defRPr>
            </a:pPr>
            <a:r>
              <a:t>F1-score</a:t>
            </a:r>
          </a:p>
          <a:p>
            <a:pPr>
              <a:defRPr sz="2000">
                <a:latin typeface="Times New Roman"/>
              </a:defRPr>
            </a:pPr>
            <a:r>
              <a:t>Insert confusion_matrix.png &amp; roc_curve.png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Times New Roman"/>
              </a:defRPr>
            </a:pPr>
            <a:r>
              <a:rPr dirty="0"/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Contract</a:t>
            </a:r>
          </a:p>
          <a:p>
            <a:pPr>
              <a:defRPr sz="2000">
                <a:latin typeface="Times New Roman"/>
              </a:defRPr>
            </a:pPr>
            <a:r>
              <a:t>Tenure</a:t>
            </a:r>
          </a:p>
          <a:p>
            <a:pPr>
              <a:defRPr sz="2000">
                <a:latin typeface="Times New Roman"/>
              </a:defRPr>
            </a:pPr>
            <a:r>
              <a:t>MonthlyCharges</a:t>
            </a:r>
          </a:p>
          <a:p>
            <a:pPr>
              <a:defRPr sz="2000">
                <a:latin typeface="Times New Roman"/>
              </a:defRPr>
            </a:pPr>
            <a:r>
              <a:t>InternetService</a:t>
            </a:r>
          </a:p>
          <a:p>
            <a:pPr>
              <a:defRPr sz="2000">
                <a:latin typeface="Times New Roman"/>
              </a:defRPr>
            </a:pPr>
            <a:r>
              <a:t>Insert feature_importance.png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Times New Roman"/>
              </a:defRPr>
            </a:pPr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Retention campaigns</a:t>
            </a:r>
          </a:p>
          <a:p>
            <a:pPr>
              <a:defRPr sz="2000">
                <a:latin typeface="Times New Roman"/>
              </a:defRPr>
            </a:pPr>
            <a:r>
              <a:t>Long-term contracts</a:t>
            </a:r>
          </a:p>
          <a:p>
            <a:pPr>
              <a:defRPr sz="2000">
                <a:latin typeface="Times New Roman"/>
              </a:defRPr>
            </a:pPr>
            <a:r>
              <a:t>Personalized offers</a:t>
            </a:r>
          </a:p>
          <a:p>
            <a:pPr>
              <a:defRPr sz="2000">
                <a:latin typeface="Times New Roman"/>
              </a:defRPr>
            </a:pPr>
            <a:r>
              <a:t>Improve support</a:t>
            </a:r>
          </a:p>
          <a:p>
            <a:pPr>
              <a:defRPr sz="2000">
                <a:latin typeface="Times New Roman"/>
              </a:defRPr>
            </a:pPr>
            <a:r>
              <a:t>Monitor high-risk customers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rPr dirty="0"/>
              <a:t>Optimized Random Forest</a:t>
            </a:r>
          </a:p>
          <a:p>
            <a:pPr>
              <a:defRPr sz="2000">
                <a:latin typeface="Times New Roman"/>
              </a:defRPr>
            </a:pPr>
            <a:r>
              <a:rPr dirty="0"/>
              <a:t>Key churn drivers identified</a:t>
            </a:r>
          </a:p>
          <a:p>
            <a:pPr>
              <a:defRPr sz="2000">
                <a:latin typeface="Times New Roman"/>
              </a:defRPr>
            </a:pPr>
            <a:r>
              <a:rPr dirty="0"/>
              <a:t>Actionable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DF36D-6FDE-7BBB-A624-8710D344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B990-D07B-B530-3439-9D477B84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3238" y="2817871"/>
            <a:ext cx="1923954" cy="640101"/>
          </a:xfrm>
        </p:spPr>
        <p:txBody>
          <a:bodyPr/>
          <a:lstStyle/>
          <a:p>
            <a:pPr>
              <a:defRPr sz="3000">
                <a:latin typeface="Times New Roman"/>
              </a:defRPr>
            </a:pPr>
            <a:r>
              <a:rPr lang="en-IN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2681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275</TotalTime>
  <Words>150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Customer Churn Prediction using Machine Learning</vt:lpstr>
      <vt:lpstr>Project Overview</vt:lpstr>
      <vt:lpstr>Dataset</vt:lpstr>
      <vt:lpstr>Data Preprocessing</vt:lpstr>
      <vt:lpstr>Machine Learning Models</vt:lpstr>
      <vt:lpstr>Hyperparameter Sensitivity Analysis</vt:lpstr>
      <vt:lpstr>Model Performance</vt:lpstr>
      <vt:lpstr>Feature Importance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sanjana manthena</dc:creator>
  <cp:keywords/>
  <dc:description>generated using python-pptx</dc:description>
  <cp:lastModifiedBy>sanjana manthena</cp:lastModifiedBy>
  <cp:revision>2</cp:revision>
  <dcterms:created xsi:type="dcterms:W3CDTF">2013-01-27T09:14:16Z</dcterms:created>
  <dcterms:modified xsi:type="dcterms:W3CDTF">2026-07-21T11:21:01Z</dcterms:modified>
  <cp:category/>
</cp:coreProperties>
</file>
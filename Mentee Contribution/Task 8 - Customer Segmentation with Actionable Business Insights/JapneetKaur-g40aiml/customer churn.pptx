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itchFamily="34" charset="0"/>
      <p:regular r:id="rId13"/>
      <p:bold r:id="rId14"/>
      <p:italic r:id="rId15"/>
      <p:boldItalic r:id="rId16"/>
    </p:embeddedFont>
    <p:embeddedFont>
      <p:font typeface="IBM Plex Sans Condensed Bold" charset="0"/>
      <p:regular r:id="rId17"/>
    </p:embeddedFont>
    <p:embeddedFont>
      <p:font typeface="IBM Plex Sans Bold" charset="0"/>
      <p:regular r:id="rId18"/>
    </p:embeddedFont>
    <p:embeddedFont>
      <p:font typeface="IBM Plex Sans Bold Italics" charset="0"/>
      <p:regular r:id="rId19"/>
    </p:embeddedFont>
    <p:embeddedFont>
      <p:font typeface="IBM Plex Sans" charset="0"/>
      <p:regular r:id="rId20"/>
    </p:embeddedFont>
    <p:embeddedFont>
      <p:font typeface="Canva Sans" charset="0"/>
      <p:regular r:id="rId21"/>
    </p:embeddedFont>
    <p:embeddedFont>
      <p:font typeface="Arimo" charset="0"/>
      <p:regular r:id="rId22"/>
    </p:embeddedFont>
    <p:embeddedFont>
      <p:font typeface="IBM Plex Sans Condensed" charset="0"/>
      <p:regular r:id="rId23"/>
    </p:embeddedFont>
    <p:embeddedFont>
      <p:font typeface="Canva Sans Bold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8A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5878" autoAdjust="0"/>
  </p:normalViewPr>
  <p:slideViewPr>
    <p:cSldViewPr>
      <p:cViewPr varScale="1">
        <p:scale>
          <a:sx n="46" d="100"/>
          <a:sy n="46" d="100"/>
        </p:scale>
        <p:origin x="-75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2.sv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11" Type="http://schemas.openxmlformats.org/officeDocument/2006/relationships/image" Target="../media/image40.sv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image" Target="../media/image3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43500"/>
            <a:ext cx="18288000" cy="5143500"/>
            <a:chOff x="0" y="0"/>
            <a:chExt cx="4816593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54667"/>
            </a:xfrm>
            <a:custGeom>
              <a:avLst/>
              <a:gdLst/>
              <a:ahLst/>
              <a:cxnLst/>
              <a:rect l="l" t="t" r="r" b="b"/>
              <a:pathLst>
                <a:path w="4816592" h="1354667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0135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675916" y="1738146"/>
            <a:ext cx="6998489" cy="6810707"/>
          </a:xfrm>
          <a:custGeom>
            <a:avLst/>
            <a:gdLst/>
            <a:ahLst/>
            <a:cxnLst/>
            <a:rect l="l" t="t" r="r" b="b"/>
            <a:pathLst>
              <a:path w="6998489" h="6810707">
                <a:moveTo>
                  <a:pt x="0" y="0"/>
                </a:moveTo>
                <a:lnTo>
                  <a:pt x="6998489" y="0"/>
                </a:lnTo>
                <a:lnTo>
                  <a:pt x="6998489" y="6810708"/>
                </a:lnTo>
                <a:lnTo>
                  <a:pt x="0" y="6810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1028700" y="7515322"/>
            <a:ext cx="816992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13595" y="2022600"/>
            <a:ext cx="7585031" cy="4375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12"/>
              </a:lnSpc>
            </a:pPr>
            <a:r>
              <a:rPr lang="en-US" sz="10281" b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CUSTOMER CHURN </a:t>
            </a:r>
            <a:r>
              <a:rPr lang="en-US" sz="10281" b="1">
                <a:solidFill>
                  <a:srgbClr val="0135A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PREDICTION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26516" y="6340648"/>
            <a:ext cx="7585031" cy="56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2"/>
              </a:lnSpc>
            </a:pPr>
            <a:r>
              <a:rPr lang="en-US" sz="333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using Machine Learning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3595" y="7924655"/>
            <a:ext cx="6297513" cy="100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3"/>
              </a:lnSpc>
            </a:pPr>
            <a:r>
              <a:rPr lang="en-US" sz="3374" b="1" i="1">
                <a:solidFill>
                  <a:srgbClr val="000000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Japneet Kaur</a:t>
            </a:r>
          </a:p>
          <a:p>
            <a:pPr algn="l">
              <a:lnSpc>
                <a:spcPts val="3323"/>
              </a:lnSpc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43500"/>
            <a:ext cx="18288000" cy="5143500"/>
            <a:chOff x="0" y="0"/>
            <a:chExt cx="4816593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54667"/>
            </a:xfrm>
            <a:custGeom>
              <a:avLst/>
              <a:gdLst/>
              <a:ahLst/>
              <a:cxnLst/>
              <a:rect l="l" t="t" r="r" b="b"/>
              <a:pathLst>
                <a:path w="4816592" h="1354667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0135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876300"/>
            <a:ext cx="16230600" cy="8229600"/>
            <a:chOff x="0" y="0"/>
            <a:chExt cx="4274726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9674718" y="2145625"/>
            <a:ext cx="7001407" cy="5995750"/>
          </a:xfrm>
          <a:custGeom>
            <a:avLst/>
            <a:gdLst/>
            <a:ahLst/>
            <a:cxnLst/>
            <a:rect l="l" t="t" r="r" b="b"/>
            <a:pathLst>
              <a:path w="7001407" h="5995750">
                <a:moveTo>
                  <a:pt x="7001407" y="0"/>
                </a:moveTo>
                <a:lnTo>
                  <a:pt x="0" y="0"/>
                </a:lnTo>
                <a:lnTo>
                  <a:pt x="0" y="5995750"/>
                </a:lnTo>
                <a:lnTo>
                  <a:pt x="7001407" y="5995750"/>
                </a:lnTo>
                <a:lnTo>
                  <a:pt x="70014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11875" y="1302817"/>
            <a:ext cx="11555452" cy="1283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36"/>
              </a:lnSpc>
            </a:pPr>
            <a:r>
              <a:rPr lang="en-US" sz="8952" b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PROJECT </a:t>
            </a:r>
            <a:r>
              <a:rPr lang="en-US" sz="8952" b="1">
                <a:solidFill>
                  <a:srgbClr val="0135A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1875" y="2760984"/>
            <a:ext cx="7585031" cy="440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3"/>
              </a:lnSpc>
            </a:pPr>
            <a:r>
              <a:rPr lang="en-US" sz="253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Business Problem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8969" y="3315828"/>
            <a:ext cx="7585031" cy="229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 churn refers to customers who stop using a company's products or services.</a:t>
            </a:r>
          </a:p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Businesses analyze churn to understand why customers leave and develop strategies to retain valuable customers.</a:t>
            </a:r>
          </a:p>
          <a:p>
            <a:pPr algn="just">
              <a:lnSpc>
                <a:spcPts val="3696"/>
              </a:lnSpc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611875" y="5595351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611875" y="5829300"/>
            <a:ext cx="10275325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Customer retention is cheaper than acquiring new customers.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1874" y="6389101"/>
            <a:ext cx="7532125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Churn prediction helps increase profits.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11875" y="6992350"/>
            <a:ext cx="8909596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4" lvl="1" indent="-269877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Machine Learning can predict customers likely to leave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898849" y="4654279"/>
            <a:ext cx="936045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2301234"/>
            <a:ext cx="8748299" cy="7290249"/>
          </a:xfrm>
          <a:custGeom>
            <a:avLst/>
            <a:gdLst/>
            <a:ahLst/>
            <a:cxnLst/>
            <a:rect l="l" t="t" r="r" b="b"/>
            <a:pathLst>
              <a:path w="8748299" h="7290249">
                <a:moveTo>
                  <a:pt x="0" y="0"/>
                </a:moveTo>
                <a:lnTo>
                  <a:pt x="8748299" y="0"/>
                </a:lnTo>
                <a:lnTo>
                  <a:pt x="8748299" y="7290250"/>
                </a:lnTo>
                <a:lnTo>
                  <a:pt x="0" y="729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0766" y="681061"/>
            <a:ext cx="4324591" cy="2648812"/>
          </a:xfrm>
          <a:custGeom>
            <a:avLst/>
            <a:gdLst/>
            <a:ahLst/>
            <a:cxnLst/>
            <a:rect l="l" t="t" r="r" b="b"/>
            <a:pathLst>
              <a:path w="4324591" h="2648812">
                <a:moveTo>
                  <a:pt x="0" y="0"/>
                </a:moveTo>
                <a:lnTo>
                  <a:pt x="4324591" y="0"/>
                </a:lnTo>
                <a:lnTo>
                  <a:pt x="4324591" y="2648812"/>
                </a:lnTo>
                <a:lnTo>
                  <a:pt x="0" y="2648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265603" y="380479"/>
            <a:ext cx="12678118" cy="1283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36"/>
              </a:lnSpc>
            </a:pPr>
            <a:r>
              <a:rPr lang="en-US" sz="8952" b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PROBLEM </a:t>
            </a:r>
            <a:r>
              <a:rPr lang="en-US" sz="8952" b="1">
                <a:solidFill>
                  <a:srgbClr val="0135A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60577" y="4940029"/>
            <a:ext cx="7083434" cy="671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02"/>
              </a:lnSpc>
            </a:pPr>
            <a:r>
              <a:rPr lang="en-US" sz="393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93766" y="1957842"/>
            <a:ext cx="9732497" cy="245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283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Many businesses lose customers without understanding the reasons behind their decisions.</a:t>
            </a:r>
          </a:p>
          <a:p>
            <a:pPr algn="l">
              <a:lnSpc>
                <a:spcPts val="3963"/>
              </a:lnSpc>
            </a:pPr>
            <a:endParaRPr/>
          </a:p>
          <a:p>
            <a:pPr algn="l">
              <a:lnSpc>
                <a:spcPts val="3963"/>
              </a:lnSpc>
            </a:pPr>
            <a:r>
              <a:rPr lang="en-US" sz="283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objective is to build machine learning models capable of identifying customers who are likely to churn.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93766" y="5889209"/>
            <a:ext cx="9732497" cy="273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920" lvl="1" indent="-337960" algn="l">
              <a:lnSpc>
                <a:spcPts val="4382"/>
              </a:lnSpc>
              <a:buFont typeface="Arial"/>
              <a:buChar char="•"/>
            </a:pPr>
            <a:r>
              <a:rPr lang="en-US" sz="313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Predict customer churn</a:t>
            </a:r>
          </a:p>
          <a:p>
            <a:pPr marL="675920" lvl="1" indent="-337960" algn="l">
              <a:lnSpc>
                <a:spcPts val="4382"/>
              </a:lnSpc>
              <a:buFont typeface="Arial"/>
              <a:buChar char="•"/>
            </a:pPr>
            <a:r>
              <a:rPr lang="en-US" sz="313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Improve customer retention</a:t>
            </a:r>
          </a:p>
          <a:p>
            <a:pPr marL="675920" lvl="1" indent="-337960" algn="l">
              <a:lnSpc>
                <a:spcPts val="4382"/>
              </a:lnSpc>
              <a:buFont typeface="Arial"/>
              <a:buChar char="•"/>
            </a:pPr>
            <a:r>
              <a:rPr lang="en-US" sz="313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Compare multiple ML algorithms</a:t>
            </a:r>
          </a:p>
          <a:p>
            <a:pPr marL="675920" lvl="1" indent="-337960" algn="l">
              <a:lnSpc>
                <a:spcPts val="4382"/>
              </a:lnSpc>
              <a:buFont typeface="Arial"/>
              <a:buChar char="•"/>
            </a:pPr>
            <a:r>
              <a:rPr lang="en-US" sz="3130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Find the best-performing model</a:t>
            </a:r>
          </a:p>
          <a:p>
            <a:pPr algn="l">
              <a:lnSpc>
                <a:spcPts val="4382"/>
              </a:lnSpc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34317"/>
            <a:chOff x="0" y="0"/>
            <a:chExt cx="4816593" cy="4304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30437"/>
            </a:xfrm>
            <a:custGeom>
              <a:avLst/>
              <a:gdLst/>
              <a:ahLst/>
              <a:cxnLst/>
              <a:rect l="l" t="t" r="r" b="b"/>
              <a:pathLst>
                <a:path w="4816592" h="430437">
                  <a:moveTo>
                    <a:pt x="0" y="0"/>
                  </a:moveTo>
                  <a:lnTo>
                    <a:pt x="4816592" y="0"/>
                  </a:lnTo>
                  <a:lnTo>
                    <a:pt x="4816592" y="430437"/>
                  </a:lnTo>
                  <a:lnTo>
                    <a:pt x="0" y="430437"/>
                  </a:lnTo>
                  <a:close/>
                </a:path>
              </a:pathLst>
            </a:custGeom>
            <a:solidFill>
              <a:srgbClr val="0135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68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304800" y="3086098"/>
          <a:ext cx="8460873" cy="6036359"/>
        </p:xfrm>
        <a:graphic>
          <a:graphicData uri="http://schemas.openxmlformats.org/drawingml/2006/table">
            <a:tbl>
              <a:tblPr/>
              <a:tblGrid>
                <a:gridCol w="4533554"/>
                <a:gridCol w="3927319"/>
              </a:tblGrid>
              <a:tr h="1040780">
                <a:tc gridSpan="2">
                  <a:txBody>
                    <a:bodyPr/>
                    <a:lstStyle/>
                    <a:p>
                      <a:pPr algn="ctr">
                        <a:lnSpc>
                          <a:spcPts val="5416"/>
                        </a:lnSpc>
                        <a:defRPr/>
                      </a:pPr>
                      <a:r>
                        <a:rPr lang="en-US" sz="5400" b="1" dirty="0" smtClean="0">
                          <a:solidFill>
                            <a:schemeClr val="bg1"/>
                          </a:solidFill>
                        </a:rPr>
                        <a:t>Dataset</a:t>
                      </a:r>
                      <a:r>
                        <a:rPr lang="en-US" sz="5400" b="1" baseline="0" dirty="0" smtClean="0">
                          <a:solidFill>
                            <a:schemeClr val="bg1"/>
                          </a:solidFill>
                        </a:rPr>
                        <a:t> Distribution</a:t>
                      </a:r>
                      <a:endParaRPr lang="en-US" sz="5400" b="1" dirty="0">
                        <a:solidFill>
                          <a:schemeClr val="bg1"/>
                        </a:solidFill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8A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5416"/>
                        </a:lnSpc>
                        <a:defRPr/>
                      </a:pPr>
                      <a:r>
                        <a:rPr lang="en-US" sz="3869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Dataset Information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1994"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 dirty="0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Value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1994"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Training Samples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440,833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1994"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Testing Samples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64,374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1994"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Total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1994"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Target Variable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Yes/No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8" name="Group 18"/>
          <p:cNvGrpSpPr/>
          <p:nvPr/>
        </p:nvGrpSpPr>
        <p:grpSpPr>
          <a:xfrm>
            <a:off x="11317705" y="1842970"/>
            <a:ext cx="5640379" cy="7114540"/>
            <a:chOff x="0" y="0"/>
            <a:chExt cx="7520505" cy="948605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66675"/>
              <a:ext cx="7520505" cy="95527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endParaRPr/>
            </a:p>
            <a:p>
              <a:pPr algn="ctr">
                <a:lnSpc>
                  <a:spcPts val="4759"/>
                </a:lnSpc>
              </a:pPr>
              <a:endParaRPr/>
            </a:p>
            <a:p>
              <a:pPr marL="734059" lvl="1" indent="-367030" algn="l">
                <a:lnSpc>
                  <a:spcPts val="4759"/>
                </a:lnSpc>
                <a:buFont typeface="Arial"/>
                <a:buChar char="•"/>
              </a:pPr>
              <a:r>
                <a:rPr lang="en-US" sz="33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Customer ID</a:t>
              </a:r>
            </a:p>
            <a:p>
              <a:pPr marL="734059" lvl="1" indent="-367030" algn="l">
                <a:lnSpc>
                  <a:spcPts val="4759"/>
                </a:lnSpc>
                <a:buFont typeface="Arial"/>
                <a:buChar char="•"/>
              </a:pPr>
              <a:r>
                <a:rPr lang="en-US" sz="33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Age</a:t>
              </a:r>
            </a:p>
            <a:p>
              <a:pPr marL="734059" lvl="1" indent="-367030" algn="l">
                <a:lnSpc>
                  <a:spcPts val="4759"/>
                </a:lnSpc>
                <a:buFont typeface="Arial"/>
                <a:buChar char="•"/>
              </a:pPr>
              <a:r>
                <a:rPr lang="en-US" sz="33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Gender</a:t>
              </a:r>
            </a:p>
            <a:p>
              <a:pPr marL="734059" lvl="1" indent="-367030" algn="l">
                <a:lnSpc>
                  <a:spcPts val="4759"/>
                </a:lnSpc>
                <a:buFont typeface="Arial"/>
                <a:buChar char="•"/>
              </a:pPr>
              <a:r>
                <a:rPr lang="en-US" sz="33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Subscription Type</a:t>
              </a:r>
            </a:p>
            <a:p>
              <a:pPr marL="734059" lvl="1" indent="-367030" algn="l">
                <a:lnSpc>
                  <a:spcPts val="4759"/>
                </a:lnSpc>
                <a:buFont typeface="Arial"/>
                <a:buChar char="•"/>
              </a:pPr>
              <a:r>
                <a:rPr lang="en-US" sz="33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Monthly Charges</a:t>
              </a:r>
            </a:p>
            <a:p>
              <a:pPr marL="734059" lvl="1" indent="-367030" algn="l">
                <a:lnSpc>
                  <a:spcPts val="4759"/>
                </a:lnSpc>
                <a:buFont typeface="Arial"/>
                <a:buChar char="•"/>
              </a:pPr>
              <a:r>
                <a:rPr lang="en-US" sz="33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Tenure</a:t>
              </a:r>
            </a:p>
            <a:p>
              <a:pPr marL="734059" lvl="1" indent="-367030" algn="l">
                <a:lnSpc>
                  <a:spcPts val="4759"/>
                </a:lnSpc>
                <a:buFont typeface="Arial"/>
                <a:buChar char="•"/>
              </a:pPr>
              <a:r>
                <a:rPr lang="en-US" sz="33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Contract</a:t>
              </a:r>
            </a:p>
            <a:p>
              <a:pPr marL="734059" lvl="1" indent="-367030" algn="l">
                <a:lnSpc>
                  <a:spcPts val="4759"/>
                </a:lnSpc>
                <a:buFont typeface="Arial"/>
                <a:buChar char="•"/>
              </a:pPr>
              <a:r>
                <a:rPr lang="en-US" sz="33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Payment Method</a:t>
              </a:r>
            </a:p>
            <a:p>
              <a:pPr marL="734059" lvl="1" indent="-367030" algn="l">
                <a:lnSpc>
                  <a:spcPts val="4759"/>
                </a:lnSpc>
                <a:buFont typeface="Arial"/>
                <a:buChar char="•"/>
              </a:pPr>
              <a:r>
                <a:rPr lang="en-US" sz="33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Internet Service</a:t>
              </a:r>
            </a:p>
            <a:p>
              <a:pPr marL="734059" lvl="1" indent="-367030" algn="l">
                <a:lnSpc>
                  <a:spcPts val="4759"/>
                </a:lnSpc>
                <a:buFont typeface="Arial"/>
                <a:buChar char="•"/>
              </a:pPr>
              <a:r>
                <a:rPr lang="en-US" sz="33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Churn (Target)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0" y="0"/>
              <a:ext cx="7520505" cy="1467853"/>
              <a:chOff x="0" y="0"/>
              <a:chExt cx="1485532" cy="28994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485532" cy="289946"/>
              </a:xfrm>
              <a:custGeom>
                <a:avLst/>
                <a:gdLst/>
                <a:ahLst/>
                <a:cxnLst/>
                <a:rect l="l" t="t" r="r" b="b"/>
                <a:pathLst>
                  <a:path w="1485532" h="289946">
                    <a:moveTo>
                      <a:pt x="23334" y="0"/>
                    </a:moveTo>
                    <a:lnTo>
                      <a:pt x="1462198" y="0"/>
                    </a:lnTo>
                    <a:cubicBezTo>
                      <a:pt x="1475085" y="0"/>
                      <a:pt x="1485532" y="10447"/>
                      <a:pt x="1485532" y="23334"/>
                    </a:cubicBezTo>
                    <a:lnTo>
                      <a:pt x="1485532" y="266612"/>
                    </a:lnTo>
                    <a:cubicBezTo>
                      <a:pt x="1485532" y="279499"/>
                      <a:pt x="1475085" y="289946"/>
                      <a:pt x="1462198" y="289946"/>
                    </a:cubicBezTo>
                    <a:lnTo>
                      <a:pt x="23334" y="289946"/>
                    </a:lnTo>
                    <a:cubicBezTo>
                      <a:pt x="17145" y="289946"/>
                      <a:pt x="11210" y="287488"/>
                      <a:pt x="6834" y="283112"/>
                    </a:cubicBezTo>
                    <a:cubicBezTo>
                      <a:pt x="2458" y="278736"/>
                      <a:pt x="0" y="272801"/>
                      <a:pt x="0" y="266612"/>
                    </a:cubicBezTo>
                    <a:lnTo>
                      <a:pt x="0" y="23334"/>
                    </a:lnTo>
                    <a:cubicBezTo>
                      <a:pt x="0" y="10447"/>
                      <a:pt x="10447" y="0"/>
                      <a:pt x="23334" y="0"/>
                    </a:cubicBezTo>
                    <a:close/>
                  </a:path>
                </a:pathLst>
              </a:custGeom>
              <a:solidFill>
                <a:srgbClr val="0135A8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76200"/>
                <a:ext cx="1485532" cy="36614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5040"/>
                  </a:lnSpc>
                </a:pPr>
                <a:r>
                  <a:rPr lang="en-US" sz="3600" b="1">
                    <a:solidFill>
                      <a:srgbClr val="FFFFFF"/>
                    </a:solidFill>
                    <a:latin typeface="IBM Plex Sans Bold"/>
                    <a:ea typeface="IBM Plex Sans Bold"/>
                    <a:cs typeface="IBM Plex Sans Bold"/>
                    <a:sym typeface="IBM Plex Sans Bold"/>
                  </a:rPr>
                  <a:t>Features</a:t>
                </a:r>
              </a:p>
            </p:txBody>
          </p:sp>
        </p:grpSp>
      </p:grpSp>
      <p:sp>
        <p:nvSpPr>
          <p:cNvPr id="23" name="Freeform 23"/>
          <p:cNvSpPr/>
          <p:nvPr/>
        </p:nvSpPr>
        <p:spPr>
          <a:xfrm>
            <a:off x="6102624" y="3898232"/>
            <a:ext cx="5120226" cy="4114800"/>
          </a:xfrm>
          <a:custGeom>
            <a:avLst/>
            <a:gdLst/>
            <a:ahLst/>
            <a:cxnLst/>
            <a:rect l="l" t="t" r="r" b="b"/>
            <a:pathLst>
              <a:path w="5120226" h="4114800">
                <a:moveTo>
                  <a:pt x="0" y="0"/>
                </a:moveTo>
                <a:lnTo>
                  <a:pt x="5120226" y="0"/>
                </a:lnTo>
                <a:lnTo>
                  <a:pt x="5120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978889" y="76200"/>
            <a:ext cx="14076827" cy="1283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6"/>
              </a:lnSpc>
            </a:pPr>
            <a:r>
              <a:rPr lang="en-US" sz="8952" b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DATASET OVERVIEW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4">
            <a:alphaModFix amt="51000"/>
          </a:blip>
          <a:stretch>
            <a:fillRect/>
          </a:stretch>
        </p:blipFill>
        <p:spPr>
          <a:xfrm rot="-5400000">
            <a:off x="6013828" y="4059625"/>
            <a:ext cx="3494828" cy="3094591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>
            <a:alphaModFix amt="67000"/>
          </a:blip>
          <a:stretch>
            <a:fillRect/>
          </a:stretch>
        </p:blipFill>
        <p:spPr>
          <a:xfrm>
            <a:off x="8995690" y="4002432"/>
            <a:ext cx="1779726" cy="162611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6">
            <a:alphaModFix amt="51000"/>
          </a:blip>
          <a:stretch>
            <a:fillRect/>
          </a:stretch>
        </p:blipFill>
        <p:spPr>
          <a:xfrm>
            <a:off x="2283866" y="5871411"/>
            <a:ext cx="61722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17038" y="348888"/>
            <a:ext cx="5242262" cy="1055919"/>
            <a:chOff x="0" y="0"/>
            <a:chExt cx="1557471" cy="3137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57471" cy="313712"/>
            </a:xfrm>
            <a:custGeom>
              <a:avLst/>
              <a:gdLst/>
              <a:ahLst/>
              <a:cxnLst/>
              <a:rect l="l" t="t" r="r" b="b"/>
              <a:pathLst>
                <a:path w="1557471" h="313712">
                  <a:moveTo>
                    <a:pt x="0" y="0"/>
                  </a:moveTo>
                  <a:lnTo>
                    <a:pt x="1557471" y="0"/>
                  </a:lnTo>
                  <a:lnTo>
                    <a:pt x="1557471" y="313712"/>
                  </a:lnTo>
                  <a:lnTo>
                    <a:pt x="0" y="313712"/>
                  </a:lnTo>
                  <a:close/>
                </a:path>
              </a:pathLst>
            </a:custGeom>
            <a:gradFill rotWithShape="1">
              <a:gsLst>
                <a:gs pos="0">
                  <a:srgbClr val="1B9986">
                    <a:alpha val="58000"/>
                  </a:srgbClr>
                </a:gs>
                <a:gs pos="100000">
                  <a:srgbClr val="C4FFF0">
                    <a:alpha val="58000"/>
                  </a:srgbClr>
                </a:gs>
              </a:gsLst>
              <a:lin ang="18900000"/>
            </a:gradFill>
            <a:ln w="38100" cap="sq">
              <a:solidFill>
                <a:srgbClr val="000000">
                  <a:alpha val="57647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557471" cy="389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>
                      <a:alpha val="57647"/>
                    </a:srgbClr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Raw Data</a:t>
              </a:r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5472" y="431581"/>
            <a:ext cx="1087979" cy="97959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2017038" y="1858370"/>
            <a:ext cx="5242262" cy="1055919"/>
            <a:chOff x="0" y="0"/>
            <a:chExt cx="1557471" cy="3137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7471" cy="313712"/>
            </a:xfrm>
            <a:custGeom>
              <a:avLst/>
              <a:gdLst/>
              <a:ahLst/>
              <a:cxnLst/>
              <a:rect l="l" t="t" r="r" b="b"/>
              <a:pathLst>
                <a:path w="1557471" h="313712">
                  <a:moveTo>
                    <a:pt x="0" y="0"/>
                  </a:moveTo>
                  <a:lnTo>
                    <a:pt x="1557471" y="0"/>
                  </a:lnTo>
                  <a:lnTo>
                    <a:pt x="1557471" y="313712"/>
                  </a:lnTo>
                  <a:lnTo>
                    <a:pt x="0" y="313712"/>
                  </a:lnTo>
                  <a:close/>
                </a:path>
              </a:pathLst>
            </a:custGeom>
            <a:gradFill rotWithShape="1">
              <a:gsLst>
                <a:gs pos="0">
                  <a:srgbClr val="7CCE6B">
                    <a:alpha val="58000"/>
                  </a:srgbClr>
                </a:gs>
                <a:gs pos="100000">
                  <a:srgbClr val="D8FFD0">
                    <a:alpha val="58000"/>
                  </a:srgbClr>
                </a:gs>
              </a:gsLst>
              <a:lin ang="5400000"/>
            </a:gradFill>
            <a:ln w="38100" cap="sq">
              <a:solidFill>
                <a:srgbClr val="000000">
                  <a:alpha val="57647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1557471" cy="389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>
                      <a:alpha val="57647"/>
                    </a:srgbClr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Data Cleaning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456427" y="1315493"/>
            <a:ext cx="277302" cy="477368"/>
            <a:chOff x="0" y="0"/>
            <a:chExt cx="472153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2153" cy="812800"/>
            </a:xfrm>
            <a:custGeom>
              <a:avLst/>
              <a:gdLst/>
              <a:ahLst/>
              <a:cxnLst/>
              <a:rect l="l" t="t" r="r" b="b"/>
              <a:pathLst>
                <a:path w="472153" h="812800">
                  <a:moveTo>
                    <a:pt x="236076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268953" y="0"/>
                  </a:lnTo>
                  <a:lnTo>
                    <a:pt x="268953" y="406400"/>
                  </a:lnTo>
                  <a:lnTo>
                    <a:pt x="472153" y="406400"/>
                  </a:lnTo>
                  <a:lnTo>
                    <a:pt x="236076" y="812800"/>
                  </a:lnTo>
                  <a:close/>
                </a:path>
              </a:pathLst>
            </a:custGeom>
            <a:solidFill>
              <a:srgbClr val="28777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203200" y="-57150"/>
              <a:ext cx="65753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268200" y="1943100"/>
            <a:ext cx="759196" cy="759196"/>
          </a:xfrm>
          <a:custGeom>
            <a:avLst/>
            <a:gdLst/>
            <a:ahLst/>
            <a:cxnLst/>
            <a:rect l="l" t="t" r="r" b="b"/>
            <a:pathLst>
              <a:path w="759196" h="759196">
                <a:moveTo>
                  <a:pt x="0" y="0"/>
                </a:moveTo>
                <a:lnTo>
                  <a:pt x="759196" y="0"/>
                </a:lnTo>
                <a:lnTo>
                  <a:pt x="759196" y="759197"/>
                </a:lnTo>
                <a:lnTo>
                  <a:pt x="0" y="759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2017038" y="3376655"/>
            <a:ext cx="5242262" cy="1055919"/>
            <a:chOff x="0" y="0"/>
            <a:chExt cx="1557471" cy="3137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57471" cy="313712"/>
            </a:xfrm>
            <a:custGeom>
              <a:avLst/>
              <a:gdLst/>
              <a:ahLst/>
              <a:cxnLst/>
              <a:rect l="l" t="t" r="r" b="b"/>
              <a:pathLst>
                <a:path w="1557471" h="313712">
                  <a:moveTo>
                    <a:pt x="0" y="0"/>
                  </a:moveTo>
                  <a:lnTo>
                    <a:pt x="1557471" y="0"/>
                  </a:lnTo>
                  <a:lnTo>
                    <a:pt x="1557471" y="313712"/>
                  </a:lnTo>
                  <a:lnTo>
                    <a:pt x="0" y="313712"/>
                  </a:lnTo>
                  <a:close/>
                </a:path>
              </a:pathLst>
            </a:custGeom>
            <a:gradFill rotWithShape="1">
              <a:gsLst>
                <a:gs pos="0">
                  <a:srgbClr val="F093FF">
                    <a:alpha val="58000"/>
                  </a:srgbClr>
                </a:gs>
                <a:gs pos="100000">
                  <a:srgbClr val="FDF1FF">
                    <a:alpha val="58000"/>
                  </a:srgbClr>
                </a:gs>
              </a:gsLst>
              <a:lin ang="5400000"/>
            </a:gradFill>
            <a:ln w="38100" cap="sq">
              <a:solidFill>
                <a:srgbClr val="000000">
                  <a:alpha val="57647"/>
                </a:srgbClr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1557471" cy="389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>
                      <a:alpha val="57647"/>
                    </a:srgbClr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         Remove Duplicates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456427" y="2979797"/>
            <a:ext cx="277302" cy="477368"/>
            <a:chOff x="0" y="0"/>
            <a:chExt cx="472153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2153" cy="812800"/>
            </a:xfrm>
            <a:custGeom>
              <a:avLst/>
              <a:gdLst/>
              <a:ahLst/>
              <a:cxnLst/>
              <a:rect l="l" t="t" r="r" b="b"/>
              <a:pathLst>
                <a:path w="472153" h="812800">
                  <a:moveTo>
                    <a:pt x="236076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268953" y="0"/>
                  </a:lnTo>
                  <a:lnTo>
                    <a:pt x="268953" y="406400"/>
                  </a:lnTo>
                  <a:lnTo>
                    <a:pt x="472153" y="406400"/>
                  </a:lnTo>
                  <a:lnTo>
                    <a:pt x="236076" y="812800"/>
                  </a:lnTo>
                  <a:close/>
                </a:path>
              </a:pathLst>
            </a:custGeom>
            <a:solidFill>
              <a:srgbClr val="287777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203200" y="-57150"/>
              <a:ext cx="65753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2468389" y="3579306"/>
            <a:ext cx="585288" cy="585288"/>
          </a:xfrm>
          <a:custGeom>
            <a:avLst/>
            <a:gdLst/>
            <a:ahLst/>
            <a:cxnLst/>
            <a:rect l="l" t="t" r="r" b="b"/>
            <a:pathLst>
              <a:path w="585288" h="585288">
                <a:moveTo>
                  <a:pt x="0" y="0"/>
                </a:moveTo>
                <a:lnTo>
                  <a:pt x="585289" y="0"/>
                </a:lnTo>
                <a:lnTo>
                  <a:pt x="585289" y="585288"/>
                </a:lnTo>
                <a:lnTo>
                  <a:pt x="0" y="58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2017038" y="4829432"/>
            <a:ext cx="5242262" cy="1055919"/>
            <a:chOff x="0" y="0"/>
            <a:chExt cx="1557471" cy="3137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57471" cy="313712"/>
            </a:xfrm>
            <a:custGeom>
              <a:avLst/>
              <a:gdLst/>
              <a:ahLst/>
              <a:cxnLst/>
              <a:rect l="l" t="t" r="r" b="b"/>
              <a:pathLst>
                <a:path w="1557471" h="313712">
                  <a:moveTo>
                    <a:pt x="0" y="0"/>
                  </a:moveTo>
                  <a:lnTo>
                    <a:pt x="1557471" y="0"/>
                  </a:lnTo>
                  <a:lnTo>
                    <a:pt x="1557471" y="313712"/>
                  </a:lnTo>
                  <a:lnTo>
                    <a:pt x="0" y="313712"/>
                  </a:lnTo>
                  <a:close/>
                </a:path>
              </a:pathLst>
            </a:custGeom>
            <a:gradFill rotWithShape="1">
              <a:gsLst>
                <a:gs pos="0">
                  <a:srgbClr val="FF6767">
                    <a:alpha val="58000"/>
                  </a:srgbClr>
                </a:gs>
                <a:gs pos="100000">
                  <a:srgbClr val="FFD1D1">
                    <a:alpha val="58000"/>
                  </a:srgbClr>
                </a:gs>
              </a:gsLst>
              <a:lin ang="5400000"/>
            </a:gradFill>
            <a:ln w="38100" cap="sq">
              <a:solidFill>
                <a:srgbClr val="000000">
                  <a:alpha val="57647"/>
                </a:srgbClr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1557471" cy="389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>
                      <a:alpha val="57647"/>
                    </a:srgbClr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     One-Hot Encoding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12192000" y="5067300"/>
            <a:ext cx="739474" cy="494775"/>
          </a:xfrm>
          <a:custGeom>
            <a:avLst/>
            <a:gdLst/>
            <a:ahLst/>
            <a:cxnLst/>
            <a:rect l="l" t="t" r="r" b="b"/>
            <a:pathLst>
              <a:path w="739474" h="494775">
                <a:moveTo>
                  <a:pt x="0" y="0"/>
                </a:moveTo>
                <a:lnTo>
                  <a:pt x="739475" y="0"/>
                </a:lnTo>
                <a:lnTo>
                  <a:pt x="739475" y="494776"/>
                </a:lnTo>
                <a:lnTo>
                  <a:pt x="0" y="494776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4542609" y="4432574"/>
            <a:ext cx="277302" cy="477368"/>
            <a:chOff x="0" y="0"/>
            <a:chExt cx="472153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2153" cy="812800"/>
            </a:xfrm>
            <a:custGeom>
              <a:avLst/>
              <a:gdLst/>
              <a:ahLst/>
              <a:cxnLst/>
              <a:rect l="l" t="t" r="r" b="b"/>
              <a:pathLst>
                <a:path w="472153" h="812800">
                  <a:moveTo>
                    <a:pt x="236076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268953" y="0"/>
                  </a:lnTo>
                  <a:lnTo>
                    <a:pt x="268953" y="406400"/>
                  </a:lnTo>
                  <a:lnTo>
                    <a:pt x="472153" y="406400"/>
                  </a:lnTo>
                  <a:lnTo>
                    <a:pt x="236076" y="812800"/>
                  </a:lnTo>
                  <a:close/>
                </a:path>
              </a:pathLst>
            </a:custGeom>
            <a:solidFill>
              <a:srgbClr val="287777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203200" y="-57150"/>
              <a:ext cx="65753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973946" y="6141945"/>
            <a:ext cx="5242262" cy="1055919"/>
            <a:chOff x="0" y="0"/>
            <a:chExt cx="1557471" cy="3137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57471" cy="313712"/>
            </a:xfrm>
            <a:custGeom>
              <a:avLst/>
              <a:gdLst/>
              <a:ahLst/>
              <a:cxnLst/>
              <a:rect l="l" t="t" r="r" b="b"/>
              <a:pathLst>
                <a:path w="1557471" h="313712">
                  <a:moveTo>
                    <a:pt x="0" y="0"/>
                  </a:moveTo>
                  <a:lnTo>
                    <a:pt x="1557471" y="0"/>
                  </a:lnTo>
                  <a:lnTo>
                    <a:pt x="1557471" y="313712"/>
                  </a:lnTo>
                  <a:lnTo>
                    <a:pt x="0" y="313712"/>
                  </a:lnTo>
                  <a:close/>
                </a:path>
              </a:pathLst>
            </a:custGeom>
            <a:gradFill rotWithShape="1">
              <a:gsLst>
                <a:gs pos="0">
                  <a:srgbClr val="F3B0F2">
                    <a:alpha val="58000"/>
                  </a:srgbClr>
                </a:gs>
                <a:gs pos="100000">
                  <a:srgbClr val="FDF5B9">
                    <a:alpha val="58000"/>
                  </a:srgbClr>
                </a:gs>
              </a:gsLst>
              <a:lin ang="0"/>
            </a:gradFill>
            <a:ln w="38100" cap="sq">
              <a:solidFill>
                <a:srgbClr val="000000">
                  <a:alpha val="57647"/>
                </a:srgbClr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1557471" cy="389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>
                      <a:alpha val="57647"/>
                    </a:srgbClr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   Feature Scaling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12192000" y="6210300"/>
            <a:ext cx="744187" cy="756480"/>
          </a:xfrm>
          <a:custGeom>
            <a:avLst/>
            <a:gdLst/>
            <a:ahLst/>
            <a:cxnLst/>
            <a:rect l="l" t="t" r="r" b="b"/>
            <a:pathLst>
              <a:path w="744187" h="756480">
                <a:moveTo>
                  <a:pt x="0" y="0"/>
                </a:moveTo>
                <a:lnTo>
                  <a:pt x="744187" y="0"/>
                </a:lnTo>
                <a:lnTo>
                  <a:pt x="744187" y="756480"/>
                </a:lnTo>
                <a:lnTo>
                  <a:pt x="0" y="75648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/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14499518" y="5814296"/>
            <a:ext cx="277302" cy="477368"/>
            <a:chOff x="0" y="0"/>
            <a:chExt cx="472153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2153" cy="812800"/>
            </a:xfrm>
            <a:custGeom>
              <a:avLst/>
              <a:gdLst/>
              <a:ahLst/>
              <a:cxnLst/>
              <a:rect l="l" t="t" r="r" b="b"/>
              <a:pathLst>
                <a:path w="472153" h="812800">
                  <a:moveTo>
                    <a:pt x="236076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268953" y="0"/>
                  </a:lnTo>
                  <a:lnTo>
                    <a:pt x="268953" y="406400"/>
                  </a:lnTo>
                  <a:lnTo>
                    <a:pt x="472153" y="406400"/>
                  </a:lnTo>
                  <a:lnTo>
                    <a:pt x="236076" y="812800"/>
                  </a:lnTo>
                  <a:close/>
                </a:path>
              </a:pathLst>
            </a:custGeom>
            <a:solidFill>
              <a:srgbClr val="287777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203200" y="-57150"/>
              <a:ext cx="65753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973946" y="7451178"/>
            <a:ext cx="5242262" cy="1055919"/>
            <a:chOff x="0" y="0"/>
            <a:chExt cx="1557471" cy="31371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57471" cy="313712"/>
            </a:xfrm>
            <a:custGeom>
              <a:avLst/>
              <a:gdLst/>
              <a:ahLst/>
              <a:cxnLst/>
              <a:rect l="l" t="t" r="r" b="b"/>
              <a:pathLst>
                <a:path w="1557471" h="313712">
                  <a:moveTo>
                    <a:pt x="0" y="0"/>
                  </a:moveTo>
                  <a:lnTo>
                    <a:pt x="1557471" y="0"/>
                  </a:lnTo>
                  <a:lnTo>
                    <a:pt x="1557471" y="313712"/>
                  </a:lnTo>
                  <a:lnTo>
                    <a:pt x="0" y="313712"/>
                  </a:lnTo>
                  <a:close/>
                </a:path>
              </a:pathLst>
            </a:custGeom>
            <a:gradFill rotWithShape="1">
              <a:gsLst>
                <a:gs pos="0">
                  <a:srgbClr val="FFDA6A">
                    <a:alpha val="58000"/>
                  </a:srgbClr>
                </a:gs>
                <a:gs pos="100000">
                  <a:srgbClr val="FFF7DE">
                    <a:alpha val="58000"/>
                  </a:srgbClr>
                </a:gs>
              </a:gsLst>
              <a:lin ang="5400000"/>
            </a:gradFill>
            <a:ln w="38100" cap="sq">
              <a:solidFill>
                <a:srgbClr val="000000">
                  <a:alpha val="57647"/>
                </a:srgbClr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1557471" cy="389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>
                      <a:alpha val="57647"/>
                    </a:srgbClr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Train-Test Split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12192000" y="7658100"/>
            <a:ext cx="598198" cy="598198"/>
          </a:xfrm>
          <a:custGeom>
            <a:avLst/>
            <a:gdLst/>
            <a:ahLst/>
            <a:cxnLst/>
            <a:rect l="l" t="t" r="r" b="b"/>
            <a:pathLst>
              <a:path w="598198" h="598198">
                <a:moveTo>
                  <a:pt x="0" y="0"/>
                </a:moveTo>
                <a:lnTo>
                  <a:pt x="598198" y="0"/>
                </a:lnTo>
                <a:lnTo>
                  <a:pt x="598198" y="598198"/>
                </a:lnTo>
                <a:lnTo>
                  <a:pt x="0" y="5981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38" name="Group 38"/>
          <p:cNvGrpSpPr/>
          <p:nvPr/>
        </p:nvGrpSpPr>
        <p:grpSpPr>
          <a:xfrm>
            <a:off x="14542609" y="7048145"/>
            <a:ext cx="277302" cy="477368"/>
            <a:chOff x="0" y="0"/>
            <a:chExt cx="472153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72153" cy="812800"/>
            </a:xfrm>
            <a:custGeom>
              <a:avLst/>
              <a:gdLst/>
              <a:ahLst/>
              <a:cxnLst/>
              <a:rect l="l" t="t" r="r" b="b"/>
              <a:pathLst>
                <a:path w="472153" h="812800">
                  <a:moveTo>
                    <a:pt x="236076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268953" y="0"/>
                  </a:lnTo>
                  <a:lnTo>
                    <a:pt x="268953" y="406400"/>
                  </a:lnTo>
                  <a:lnTo>
                    <a:pt x="472153" y="406400"/>
                  </a:lnTo>
                  <a:lnTo>
                    <a:pt x="236076" y="812800"/>
                  </a:lnTo>
                  <a:close/>
                </a:path>
              </a:pathLst>
            </a:custGeom>
            <a:solidFill>
              <a:srgbClr val="287777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203200" y="-57150"/>
              <a:ext cx="65753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017038" y="8907146"/>
            <a:ext cx="5242262" cy="1055919"/>
            <a:chOff x="0" y="0"/>
            <a:chExt cx="1557471" cy="3137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557471" cy="313712"/>
            </a:xfrm>
            <a:custGeom>
              <a:avLst/>
              <a:gdLst/>
              <a:ahLst/>
              <a:cxnLst/>
              <a:rect l="l" t="t" r="r" b="b"/>
              <a:pathLst>
                <a:path w="1557471" h="313712">
                  <a:moveTo>
                    <a:pt x="0" y="0"/>
                  </a:moveTo>
                  <a:lnTo>
                    <a:pt x="1557471" y="0"/>
                  </a:lnTo>
                  <a:lnTo>
                    <a:pt x="1557471" y="313712"/>
                  </a:lnTo>
                  <a:lnTo>
                    <a:pt x="0" y="313712"/>
                  </a:lnTo>
                  <a:close/>
                </a:path>
              </a:pathLst>
            </a:custGeom>
            <a:gradFill rotWithShape="1">
              <a:gsLst>
                <a:gs pos="0">
                  <a:srgbClr val="84A9FF">
                    <a:alpha val="58000"/>
                  </a:srgbClr>
                </a:gs>
                <a:gs pos="100000">
                  <a:srgbClr val="F5F8FF">
                    <a:alpha val="58000"/>
                  </a:srgbClr>
                </a:gs>
              </a:gsLst>
              <a:lin ang="5400000"/>
            </a:gradFill>
            <a:ln w="38100" cap="sq">
              <a:solidFill>
                <a:srgbClr val="000000">
                  <a:alpha val="57647"/>
                </a:srgbClr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76200"/>
              <a:ext cx="1557471" cy="389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000000">
                      <a:alpha val="57647"/>
                    </a:srgbClr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Ready Dataset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542609" y="8429778"/>
            <a:ext cx="277302" cy="477368"/>
            <a:chOff x="0" y="0"/>
            <a:chExt cx="472153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72153" cy="812800"/>
            </a:xfrm>
            <a:custGeom>
              <a:avLst/>
              <a:gdLst/>
              <a:ahLst/>
              <a:cxnLst/>
              <a:rect l="l" t="t" r="r" b="b"/>
              <a:pathLst>
                <a:path w="472153" h="812800">
                  <a:moveTo>
                    <a:pt x="236076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268953" y="0"/>
                  </a:lnTo>
                  <a:lnTo>
                    <a:pt x="268953" y="406400"/>
                  </a:lnTo>
                  <a:lnTo>
                    <a:pt x="472153" y="406400"/>
                  </a:lnTo>
                  <a:lnTo>
                    <a:pt x="236076" y="812800"/>
                  </a:lnTo>
                  <a:close/>
                </a:path>
              </a:pathLst>
            </a:custGeom>
            <a:solidFill>
              <a:srgbClr val="287777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203200" y="-57150"/>
              <a:ext cx="65753" cy="768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47" name="Freeform 47"/>
          <p:cNvSpPr/>
          <p:nvPr/>
        </p:nvSpPr>
        <p:spPr>
          <a:xfrm>
            <a:off x="12357537" y="9050021"/>
            <a:ext cx="615279" cy="616924"/>
          </a:xfrm>
          <a:custGeom>
            <a:avLst/>
            <a:gdLst/>
            <a:ahLst/>
            <a:cxnLst/>
            <a:rect l="l" t="t" r="r" b="b"/>
            <a:pathLst>
              <a:path w="615279" h="616924">
                <a:moveTo>
                  <a:pt x="0" y="0"/>
                </a:moveTo>
                <a:lnTo>
                  <a:pt x="615279" y="0"/>
                </a:lnTo>
                <a:lnTo>
                  <a:pt x="615279" y="616924"/>
                </a:lnTo>
                <a:lnTo>
                  <a:pt x="0" y="616924"/>
                </a:lnTo>
                <a:lnTo>
                  <a:pt x="0" y="0"/>
                </a:lnTo>
                <a:close/>
              </a:path>
            </a:pathLst>
          </a:custGeom>
          <a:blipFill>
            <a:blip r:embed="rId10" cstate="print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-18510" y="3904614"/>
            <a:ext cx="9162510" cy="7497014"/>
          </a:xfrm>
          <a:custGeom>
            <a:avLst/>
            <a:gdLst/>
            <a:ahLst/>
            <a:cxnLst/>
            <a:rect l="l" t="t" r="r" b="b"/>
            <a:pathLst>
              <a:path w="9162510" h="7497014">
                <a:moveTo>
                  <a:pt x="0" y="0"/>
                </a:moveTo>
                <a:lnTo>
                  <a:pt x="9162510" y="0"/>
                </a:lnTo>
                <a:lnTo>
                  <a:pt x="9162510" y="7497015"/>
                </a:lnTo>
                <a:lnTo>
                  <a:pt x="0" y="74970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32999"/>
            </a:blip>
            <a:stretch>
              <a:fillRect t="-9771"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457200" y="1790700"/>
            <a:ext cx="11552580" cy="126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Data preprocessing is an essential step in machine learning that improves data quality before model </a:t>
            </a:r>
            <a:r>
              <a:rPr lang="en-US" sz="3000" dirty="0" smtClean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training . It </a:t>
            </a:r>
            <a:r>
              <a:rPr lang="en-US" sz="3000" dirty="0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ensures that the dataset is clean, consistent, and suitable for accurate predictions.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-393542" y="425088"/>
            <a:ext cx="11976452" cy="1283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6"/>
              </a:lnSpc>
            </a:pPr>
            <a:r>
              <a:rPr lang="en-US" sz="8952" b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DATA </a:t>
            </a:r>
            <a:r>
              <a:rPr lang="en-US" sz="8952" b="1">
                <a:solidFill>
                  <a:srgbClr val="4A7FF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PROCESSING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6974" y="3379342"/>
            <a:ext cx="7267826" cy="6924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84789" lvl="1" indent="-442394" algn="l">
              <a:lnSpc>
                <a:spcPts val="4548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mo" charset="0"/>
                <a:cs typeface="Arial" pitchFamily="34" charset="0"/>
                <a:sym typeface="IBM Plex Sans Condensed"/>
              </a:rPr>
              <a:t>Removed Customer </a:t>
            </a:r>
            <a:r>
              <a:rPr lang="en-US" sz="3500" b="1" dirty="0" smtClean="0">
                <a:solidFill>
                  <a:srgbClr val="000000"/>
                </a:solidFill>
                <a:latin typeface="Arial" pitchFamily="34" charset="0"/>
                <a:ea typeface="Arimo" charset="0"/>
                <a:cs typeface="Arial" pitchFamily="34" charset="0"/>
                <a:sym typeface="IBM Plex Sans Condensed"/>
              </a:rPr>
              <a:t>ID</a:t>
            </a:r>
          </a:p>
          <a:p>
            <a:pPr marL="884789" lvl="1" indent="-442394" algn="l">
              <a:lnSpc>
                <a:spcPts val="4548"/>
              </a:lnSpc>
            </a:pPr>
            <a:endParaRPr lang="en-US" sz="3500" b="1" dirty="0" smtClean="0">
              <a:solidFill>
                <a:srgbClr val="000000"/>
              </a:solidFill>
              <a:latin typeface="Arial" pitchFamily="34" charset="0"/>
              <a:ea typeface="Arimo" charset="0"/>
              <a:cs typeface="Arial" pitchFamily="34" charset="0"/>
              <a:sym typeface="IBM Plex Sans Condensed"/>
            </a:endParaRPr>
          </a:p>
          <a:p>
            <a:pPr marL="884789" lvl="1" indent="-442394" algn="just">
              <a:lnSpc>
                <a:spcPts val="4548"/>
              </a:lnSpc>
              <a:buFont typeface="Arial" pitchFamily="34" charset="0"/>
              <a:buChar char="•"/>
            </a:pPr>
            <a:r>
              <a:rPr lang="en-US" sz="3500" b="1" dirty="0" smtClean="0">
                <a:solidFill>
                  <a:srgbClr val="000000"/>
                </a:solidFill>
                <a:latin typeface="Arial" pitchFamily="34" charset="0"/>
                <a:ea typeface="Arimo" charset="0"/>
                <a:cs typeface="Arial" pitchFamily="34" charset="0"/>
                <a:sym typeface="IBM Plex Sans Condensed"/>
              </a:rPr>
              <a:t>Checked </a:t>
            </a:r>
            <a:r>
              <a:rPr lang="en-US" sz="3500" b="1" dirty="0" err="1" smtClean="0">
                <a:solidFill>
                  <a:srgbClr val="000000"/>
                </a:solidFill>
                <a:latin typeface="Arial" pitchFamily="34" charset="0"/>
                <a:ea typeface="Arimo" charset="0"/>
                <a:cs typeface="Arial" pitchFamily="34" charset="0"/>
                <a:sym typeface="IBM Plex Sans Condensed"/>
              </a:rPr>
              <a:t>MissingValues</a:t>
            </a:r>
            <a:endParaRPr lang="en-US" sz="3500" b="1" dirty="0" smtClean="0">
              <a:solidFill>
                <a:srgbClr val="000000"/>
              </a:solidFill>
              <a:latin typeface="Arial" pitchFamily="34" charset="0"/>
              <a:ea typeface="Arimo" charset="0"/>
              <a:cs typeface="Arial" pitchFamily="34" charset="0"/>
              <a:sym typeface="IBM Plex Sans Condensed"/>
            </a:endParaRPr>
          </a:p>
          <a:p>
            <a:pPr marL="884789" lvl="1" indent="-442394" algn="just">
              <a:lnSpc>
                <a:spcPts val="4548"/>
              </a:lnSpc>
            </a:pPr>
            <a:endParaRPr lang="en-US" sz="3500" b="1" dirty="0" smtClean="0">
              <a:solidFill>
                <a:srgbClr val="000000"/>
              </a:solidFill>
              <a:latin typeface="Arial" pitchFamily="34" charset="0"/>
              <a:ea typeface="Arimo" charset="0"/>
              <a:cs typeface="Arial" pitchFamily="34" charset="0"/>
              <a:sym typeface="IBM Plex Sans Condensed"/>
            </a:endParaRPr>
          </a:p>
          <a:p>
            <a:pPr marL="884789" lvl="1" indent="-442394" algn="l">
              <a:lnSpc>
                <a:spcPts val="4548"/>
              </a:lnSpc>
              <a:buFont typeface="Arial" pitchFamily="34" charset="0"/>
              <a:buChar char="•"/>
            </a:pPr>
            <a:r>
              <a:rPr lang="en-US" sz="3500" b="1" dirty="0" smtClean="0">
                <a:solidFill>
                  <a:srgbClr val="000000"/>
                </a:solidFill>
                <a:latin typeface="Arial" pitchFamily="34" charset="0"/>
                <a:ea typeface="Arimo" charset="0"/>
                <a:cs typeface="Arial" pitchFamily="34" charset="0"/>
                <a:sym typeface="IBM Plex Sans Condensed"/>
              </a:rPr>
              <a:t> </a:t>
            </a: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mo" charset="0"/>
                <a:cs typeface="Arial" pitchFamily="34" charset="0"/>
                <a:sym typeface="IBM Plex Sans Condensed"/>
              </a:rPr>
              <a:t>Removed </a:t>
            </a:r>
            <a:r>
              <a:rPr lang="en-US" sz="3500" b="1" dirty="0" smtClean="0">
                <a:solidFill>
                  <a:srgbClr val="000000"/>
                </a:solidFill>
                <a:latin typeface="Arial" pitchFamily="34" charset="0"/>
                <a:ea typeface="Arimo" charset="0"/>
                <a:cs typeface="Arial" pitchFamily="34" charset="0"/>
                <a:sym typeface="IBM Plex Sans Condensed"/>
              </a:rPr>
              <a:t>Duplicates</a:t>
            </a:r>
          </a:p>
          <a:p>
            <a:pPr marL="884789" lvl="1" indent="-442394" algn="l">
              <a:lnSpc>
                <a:spcPts val="4548"/>
              </a:lnSpc>
            </a:pPr>
            <a:endParaRPr lang="en-US" sz="3500" b="1" dirty="0">
              <a:solidFill>
                <a:srgbClr val="000000"/>
              </a:solidFill>
              <a:latin typeface="Arial" pitchFamily="34" charset="0"/>
              <a:ea typeface="Arimo" charset="0"/>
              <a:cs typeface="Arial" pitchFamily="34" charset="0"/>
              <a:sym typeface="IBM Plex Sans Condensed"/>
            </a:endParaRPr>
          </a:p>
          <a:p>
            <a:pPr marL="884789" lvl="1" indent="-442394" algn="l">
              <a:lnSpc>
                <a:spcPts val="4548"/>
              </a:lnSpc>
              <a:buFont typeface="Arial" pitchFamily="34" charset="0"/>
              <a:buChar char="•"/>
            </a:pPr>
            <a:r>
              <a:rPr lang="en-US" sz="3500" b="1" dirty="0" smtClean="0">
                <a:solidFill>
                  <a:srgbClr val="000000"/>
                </a:solidFill>
                <a:latin typeface="Arial" pitchFamily="34" charset="0"/>
                <a:ea typeface="Arimo" charset="0"/>
                <a:cs typeface="Arial" pitchFamily="34" charset="0"/>
                <a:sym typeface="IBM Plex Sans Condensed"/>
              </a:rPr>
              <a:t>One-Hot Encoding</a:t>
            </a:r>
          </a:p>
          <a:p>
            <a:pPr marL="884789" lvl="1" indent="-442394" algn="l">
              <a:lnSpc>
                <a:spcPts val="4548"/>
              </a:lnSpc>
            </a:pPr>
            <a:endParaRPr lang="en-US" sz="3500" b="1" dirty="0">
              <a:solidFill>
                <a:srgbClr val="000000"/>
              </a:solidFill>
              <a:latin typeface="Arial" pitchFamily="34" charset="0"/>
              <a:ea typeface="Arimo" charset="0"/>
              <a:cs typeface="Arial" pitchFamily="34" charset="0"/>
              <a:sym typeface="IBM Plex Sans Condensed"/>
            </a:endParaRPr>
          </a:p>
          <a:p>
            <a:pPr marL="884789" lvl="1" indent="-442394" algn="l">
              <a:lnSpc>
                <a:spcPts val="4548"/>
              </a:lnSpc>
              <a:buFont typeface="Arial" pitchFamily="34" charset="0"/>
              <a:buChar char="•"/>
            </a:pPr>
            <a:r>
              <a:rPr lang="en-US" sz="3500" b="1" dirty="0" smtClean="0">
                <a:solidFill>
                  <a:srgbClr val="000000"/>
                </a:solidFill>
                <a:latin typeface="Arial" pitchFamily="34" charset="0"/>
                <a:ea typeface="Arimo" charset="0"/>
                <a:cs typeface="Arial" pitchFamily="34" charset="0"/>
                <a:sym typeface="IBM Plex Sans Condensed"/>
              </a:rPr>
              <a:t>Feature Scaling</a:t>
            </a:r>
          </a:p>
          <a:p>
            <a:pPr marL="884789" lvl="1" indent="-442394" algn="l">
              <a:lnSpc>
                <a:spcPts val="4548"/>
              </a:lnSpc>
            </a:pPr>
            <a:endParaRPr lang="en-US" sz="3500" b="1" dirty="0">
              <a:solidFill>
                <a:srgbClr val="000000"/>
              </a:solidFill>
              <a:latin typeface="Arial" pitchFamily="34" charset="0"/>
              <a:ea typeface="Arimo" charset="0"/>
              <a:cs typeface="Arial" pitchFamily="34" charset="0"/>
              <a:sym typeface="IBM Plex Sans Condensed"/>
            </a:endParaRPr>
          </a:p>
          <a:p>
            <a:pPr marL="884789" lvl="1" indent="-442394" algn="l">
              <a:lnSpc>
                <a:spcPts val="4548"/>
              </a:lnSpc>
              <a:buFont typeface="Arial" pitchFamily="34" charset="0"/>
              <a:buChar char="•"/>
            </a:pPr>
            <a:r>
              <a:rPr lang="en-US" sz="3500" b="1" dirty="0" smtClean="0">
                <a:solidFill>
                  <a:srgbClr val="000000"/>
                </a:solidFill>
                <a:latin typeface="Arial" pitchFamily="34" charset="0"/>
                <a:ea typeface="Arimo" charset="0"/>
                <a:cs typeface="Arial" pitchFamily="34" charset="0"/>
                <a:sym typeface="IBM Plex Sans Condensed"/>
              </a:rPr>
              <a:t>Train-Test </a:t>
            </a: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mo" charset="0"/>
                <a:cs typeface="Arial" pitchFamily="34" charset="0"/>
                <a:sym typeface="IBM Plex Sans Condensed"/>
              </a:rPr>
              <a:t>Split</a:t>
            </a:r>
          </a:p>
          <a:p>
            <a:pPr algn="l">
              <a:lnSpc>
                <a:spcPts val="4548"/>
              </a:lnSpc>
            </a:pPr>
            <a:endParaRPr sz="3500" b="1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99299"/>
            <a:ext cx="5889313" cy="3745693"/>
          </a:xfrm>
          <a:custGeom>
            <a:avLst/>
            <a:gdLst/>
            <a:ahLst/>
            <a:cxnLst/>
            <a:rect l="l" t="t" r="r" b="b"/>
            <a:pathLst>
              <a:path w="5889313" h="3745693">
                <a:moveTo>
                  <a:pt x="0" y="0"/>
                </a:moveTo>
                <a:lnTo>
                  <a:pt x="5889313" y="0"/>
                </a:lnTo>
                <a:lnTo>
                  <a:pt x="5889313" y="3745693"/>
                </a:lnTo>
                <a:lnTo>
                  <a:pt x="0" y="3745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275421" y="1799299"/>
            <a:ext cx="5042188" cy="4318764"/>
          </a:xfrm>
          <a:custGeom>
            <a:avLst/>
            <a:gdLst/>
            <a:ahLst/>
            <a:cxnLst/>
            <a:rect l="l" t="t" r="r" b="b"/>
            <a:pathLst>
              <a:path w="5042188" h="4318764">
                <a:moveTo>
                  <a:pt x="0" y="0"/>
                </a:moveTo>
                <a:lnTo>
                  <a:pt x="5042188" y="0"/>
                </a:lnTo>
                <a:lnTo>
                  <a:pt x="5042188" y="4318764"/>
                </a:lnTo>
                <a:lnTo>
                  <a:pt x="0" y="4318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982" b="-766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604392" y="1878377"/>
            <a:ext cx="5683608" cy="3666616"/>
          </a:xfrm>
          <a:custGeom>
            <a:avLst/>
            <a:gdLst/>
            <a:ahLst/>
            <a:cxnLst/>
            <a:rect l="l" t="t" r="r" b="b"/>
            <a:pathLst>
              <a:path w="5683608" h="3666616">
                <a:moveTo>
                  <a:pt x="0" y="0"/>
                </a:moveTo>
                <a:lnTo>
                  <a:pt x="5683608" y="0"/>
                </a:lnTo>
                <a:lnTo>
                  <a:pt x="5683608" y="3666615"/>
                </a:lnTo>
                <a:lnTo>
                  <a:pt x="0" y="36666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863" b="-186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7366" y="6397476"/>
            <a:ext cx="5855657" cy="3889524"/>
          </a:xfrm>
          <a:custGeom>
            <a:avLst/>
            <a:gdLst/>
            <a:ahLst/>
            <a:cxnLst/>
            <a:rect l="l" t="t" r="r" b="b"/>
            <a:pathLst>
              <a:path w="5855657" h="3889524">
                <a:moveTo>
                  <a:pt x="0" y="0"/>
                </a:moveTo>
                <a:lnTo>
                  <a:pt x="5855657" y="0"/>
                </a:lnTo>
                <a:lnTo>
                  <a:pt x="5855657" y="3889524"/>
                </a:lnTo>
                <a:lnTo>
                  <a:pt x="0" y="38895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143637" y="7317266"/>
            <a:ext cx="4775888" cy="2969734"/>
          </a:xfrm>
          <a:custGeom>
            <a:avLst/>
            <a:gdLst/>
            <a:ahLst/>
            <a:cxnLst/>
            <a:rect l="l" t="t" r="r" b="b"/>
            <a:pathLst>
              <a:path w="4775888" h="2969734">
                <a:moveTo>
                  <a:pt x="0" y="0"/>
                </a:moveTo>
                <a:lnTo>
                  <a:pt x="4775888" y="0"/>
                </a:lnTo>
                <a:lnTo>
                  <a:pt x="4775888" y="2969734"/>
                </a:lnTo>
                <a:lnTo>
                  <a:pt x="0" y="29697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74761" y="196732"/>
            <a:ext cx="18943721" cy="98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17"/>
              </a:lnSpc>
            </a:pPr>
            <a:r>
              <a:rPr lang="en-US" sz="6952" b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EXPLORATORY </a:t>
            </a:r>
            <a:r>
              <a:rPr lang="en-US" sz="6952" b="1">
                <a:solidFill>
                  <a:srgbClr val="0135A8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DATA ANALYSIS (EDA)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33591" y="1181075"/>
            <a:ext cx="4725849" cy="568487"/>
            <a:chOff x="0" y="0"/>
            <a:chExt cx="1244668" cy="1497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4668" cy="149725"/>
            </a:xfrm>
            <a:custGeom>
              <a:avLst/>
              <a:gdLst/>
              <a:ahLst/>
              <a:cxnLst/>
              <a:rect l="l" t="t" r="r" b="b"/>
              <a:pathLst>
                <a:path w="1244668" h="149725">
                  <a:moveTo>
                    <a:pt x="27850" y="0"/>
                  </a:moveTo>
                  <a:lnTo>
                    <a:pt x="1216819" y="0"/>
                  </a:lnTo>
                  <a:cubicBezTo>
                    <a:pt x="1232199" y="0"/>
                    <a:pt x="1244668" y="12469"/>
                    <a:pt x="1244668" y="27850"/>
                  </a:cubicBezTo>
                  <a:lnTo>
                    <a:pt x="1244668" y="121875"/>
                  </a:lnTo>
                  <a:cubicBezTo>
                    <a:pt x="1244668" y="137256"/>
                    <a:pt x="1232199" y="149725"/>
                    <a:pt x="1216819" y="149725"/>
                  </a:cubicBezTo>
                  <a:lnTo>
                    <a:pt x="27850" y="149725"/>
                  </a:lnTo>
                  <a:cubicBezTo>
                    <a:pt x="12469" y="149725"/>
                    <a:pt x="0" y="137256"/>
                    <a:pt x="0" y="121875"/>
                  </a:cubicBezTo>
                  <a:lnTo>
                    <a:pt x="0" y="27850"/>
                  </a:lnTo>
                  <a:cubicBezTo>
                    <a:pt x="0" y="12469"/>
                    <a:pt x="12469" y="0"/>
                    <a:pt x="27850" y="0"/>
                  </a:cubicBez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244668" cy="20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538867" y="1141786"/>
            <a:ext cx="451529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 err="1" smtClean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CorealationHeatmap</a:t>
            </a:r>
            <a:endParaRPr lang="en-US" sz="3399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2972541" y="1339969"/>
            <a:ext cx="4984246" cy="538408"/>
            <a:chOff x="0" y="0"/>
            <a:chExt cx="1312723" cy="1418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12723" cy="141803"/>
            </a:xfrm>
            <a:custGeom>
              <a:avLst/>
              <a:gdLst/>
              <a:ahLst/>
              <a:cxnLst/>
              <a:rect l="l" t="t" r="r" b="b"/>
              <a:pathLst>
                <a:path w="1312723" h="141803">
                  <a:moveTo>
                    <a:pt x="26406" y="0"/>
                  </a:moveTo>
                  <a:lnTo>
                    <a:pt x="1286318" y="0"/>
                  </a:lnTo>
                  <a:cubicBezTo>
                    <a:pt x="1300901" y="0"/>
                    <a:pt x="1312723" y="11822"/>
                    <a:pt x="1312723" y="26406"/>
                  </a:cubicBezTo>
                  <a:lnTo>
                    <a:pt x="1312723" y="115397"/>
                  </a:lnTo>
                  <a:cubicBezTo>
                    <a:pt x="1312723" y="122400"/>
                    <a:pt x="1309941" y="129117"/>
                    <a:pt x="1304989" y="134069"/>
                  </a:cubicBezTo>
                  <a:cubicBezTo>
                    <a:pt x="1300037" y="139021"/>
                    <a:pt x="1293321" y="141803"/>
                    <a:pt x="1286318" y="141803"/>
                  </a:cubicBezTo>
                  <a:lnTo>
                    <a:pt x="26406" y="141803"/>
                  </a:lnTo>
                  <a:cubicBezTo>
                    <a:pt x="11822" y="141803"/>
                    <a:pt x="0" y="129981"/>
                    <a:pt x="0" y="115397"/>
                  </a:cubicBezTo>
                  <a:lnTo>
                    <a:pt x="0" y="26406"/>
                  </a:lnTo>
                  <a:cubicBezTo>
                    <a:pt x="0" y="11822"/>
                    <a:pt x="11822" y="0"/>
                    <a:pt x="26406" y="0"/>
                  </a:cubicBez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312723" cy="198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019418" y="1242994"/>
            <a:ext cx="489049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Frequency Distribution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95545" y="5862201"/>
            <a:ext cx="4775888" cy="535275"/>
            <a:chOff x="0" y="0"/>
            <a:chExt cx="1257847" cy="14097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57847" cy="140978"/>
            </a:xfrm>
            <a:custGeom>
              <a:avLst/>
              <a:gdLst/>
              <a:ahLst/>
              <a:cxnLst/>
              <a:rect l="l" t="t" r="r" b="b"/>
              <a:pathLst>
                <a:path w="1257847" h="140978">
                  <a:moveTo>
                    <a:pt x="27558" y="0"/>
                  </a:moveTo>
                  <a:lnTo>
                    <a:pt x="1230289" y="0"/>
                  </a:lnTo>
                  <a:cubicBezTo>
                    <a:pt x="1245509" y="0"/>
                    <a:pt x="1257847" y="12338"/>
                    <a:pt x="1257847" y="27558"/>
                  </a:cubicBezTo>
                  <a:lnTo>
                    <a:pt x="1257847" y="113420"/>
                  </a:lnTo>
                  <a:cubicBezTo>
                    <a:pt x="1257847" y="120729"/>
                    <a:pt x="1254944" y="127738"/>
                    <a:pt x="1249775" y="132906"/>
                  </a:cubicBezTo>
                  <a:cubicBezTo>
                    <a:pt x="1244607" y="138074"/>
                    <a:pt x="1237598" y="140978"/>
                    <a:pt x="1230289" y="140978"/>
                  </a:cubicBezTo>
                  <a:lnTo>
                    <a:pt x="27558" y="140978"/>
                  </a:lnTo>
                  <a:cubicBezTo>
                    <a:pt x="12338" y="140978"/>
                    <a:pt x="0" y="128640"/>
                    <a:pt x="0" y="113420"/>
                  </a:cubicBezTo>
                  <a:lnTo>
                    <a:pt x="0" y="27558"/>
                  </a:lnTo>
                  <a:cubicBezTo>
                    <a:pt x="0" y="12338"/>
                    <a:pt x="12338" y="0"/>
                    <a:pt x="27558" y="0"/>
                  </a:cubicBez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257847" cy="198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61262" y="5794530"/>
            <a:ext cx="444445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Recency Distribution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143637" y="6603838"/>
            <a:ext cx="4775888" cy="535275"/>
            <a:chOff x="0" y="0"/>
            <a:chExt cx="1257847" cy="14097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57847" cy="140978"/>
            </a:xfrm>
            <a:custGeom>
              <a:avLst/>
              <a:gdLst/>
              <a:ahLst/>
              <a:cxnLst/>
              <a:rect l="l" t="t" r="r" b="b"/>
              <a:pathLst>
                <a:path w="1257847" h="140978">
                  <a:moveTo>
                    <a:pt x="27558" y="0"/>
                  </a:moveTo>
                  <a:lnTo>
                    <a:pt x="1230289" y="0"/>
                  </a:lnTo>
                  <a:cubicBezTo>
                    <a:pt x="1245509" y="0"/>
                    <a:pt x="1257847" y="12338"/>
                    <a:pt x="1257847" y="27558"/>
                  </a:cubicBezTo>
                  <a:lnTo>
                    <a:pt x="1257847" y="113420"/>
                  </a:lnTo>
                  <a:cubicBezTo>
                    <a:pt x="1257847" y="120729"/>
                    <a:pt x="1254944" y="127738"/>
                    <a:pt x="1249775" y="132906"/>
                  </a:cubicBezTo>
                  <a:cubicBezTo>
                    <a:pt x="1244607" y="138074"/>
                    <a:pt x="1237598" y="140978"/>
                    <a:pt x="1230289" y="140978"/>
                  </a:cubicBezTo>
                  <a:lnTo>
                    <a:pt x="27558" y="140978"/>
                  </a:lnTo>
                  <a:cubicBezTo>
                    <a:pt x="12338" y="140978"/>
                    <a:pt x="0" y="128640"/>
                    <a:pt x="0" y="113420"/>
                  </a:cubicBezTo>
                  <a:lnTo>
                    <a:pt x="0" y="27558"/>
                  </a:lnTo>
                  <a:cubicBezTo>
                    <a:pt x="0" y="12338"/>
                    <a:pt x="12338" y="0"/>
                    <a:pt x="27558" y="0"/>
                  </a:cubicBez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257847" cy="198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275421" y="6537163"/>
            <a:ext cx="451232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Quantity Distribution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009201" y="1254897"/>
            <a:ext cx="3928311" cy="568487"/>
            <a:chOff x="0" y="0"/>
            <a:chExt cx="1034617" cy="1497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34617" cy="149725"/>
            </a:xfrm>
            <a:custGeom>
              <a:avLst/>
              <a:gdLst/>
              <a:ahLst/>
              <a:cxnLst/>
              <a:rect l="l" t="t" r="r" b="b"/>
              <a:pathLst>
                <a:path w="1034617" h="149725">
                  <a:moveTo>
                    <a:pt x="33504" y="0"/>
                  </a:moveTo>
                  <a:lnTo>
                    <a:pt x="1001113" y="0"/>
                  </a:lnTo>
                  <a:cubicBezTo>
                    <a:pt x="1009999" y="0"/>
                    <a:pt x="1018521" y="3530"/>
                    <a:pt x="1024804" y="9813"/>
                  </a:cubicBezTo>
                  <a:cubicBezTo>
                    <a:pt x="1031087" y="16096"/>
                    <a:pt x="1034617" y="24618"/>
                    <a:pt x="1034617" y="33504"/>
                  </a:cubicBezTo>
                  <a:lnTo>
                    <a:pt x="1034617" y="116221"/>
                  </a:lnTo>
                  <a:cubicBezTo>
                    <a:pt x="1034617" y="125107"/>
                    <a:pt x="1031087" y="133629"/>
                    <a:pt x="1024804" y="139912"/>
                  </a:cubicBezTo>
                  <a:cubicBezTo>
                    <a:pt x="1018521" y="146195"/>
                    <a:pt x="1009999" y="149725"/>
                    <a:pt x="1001113" y="149725"/>
                  </a:cubicBezTo>
                  <a:lnTo>
                    <a:pt x="33504" y="149725"/>
                  </a:lnTo>
                  <a:cubicBezTo>
                    <a:pt x="24618" y="149725"/>
                    <a:pt x="16096" y="146195"/>
                    <a:pt x="9813" y="139912"/>
                  </a:cubicBezTo>
                  <a:cubicBezTo>
                    <a:pt x="3530" y="133629"/>
                    <a:pt x="0" y="125107"/>
                    <a:pt x="0" y="116221"/>
                  </a:cubicBezTo>
                  <a:lnTo>
                    <a:pt x="0" y="33504"/>
                  </a:lnTo>
                  <a:cubicBezTo>
                    <a:pt x="0" y="24618"/>
                    <a:pt x="3530" y="16096"/>
                    <a:pt x="9813" y="9813"/>
                  </a:cubicBezTo>
                  <a:cubicBezTo>
                    <a:pt x="16096" y="3530"/>
                    <a:pt x="24618" y="0"/>
                    <a:pt x="33504" y="0"/>
                  </a:cubicBezTo>
                  <a:close/>
                </a:path>
              </a:pathLst>
            </a:custGeom>
            <a:solidFill>
              <a:srgbClr val="1986C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034617" cy="20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240997" y="1188222"/>
            <a:ext cx="346471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 10Countries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2604392" y="5829301"/>
            <a:ext cx="5302608" cy="4457699"/>
            <a:chOff x="0" y="0"/>
            <a:chExt cx="7749607" cy="699722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749607" cy="6895622"/>
            </a:xfrm>
            <a:custGeom>
              <a:avLst/>
              <a:gdLst/>
              <a:ahLst/>
              <a:cxnLst/>
              <a:rect l="l" t="t" r="r" b="b"/>
              <a:pathLst>
                <a:path w="7749607" h="6895622">
                  <a:moveTo>
                    <a:pt x="0" y="0"/>
                  </a:moveTo>
                  <a:lnTo>
                    <a:pt x="7749607" y="0"/>
                  </a:lnTo>
                  <a:lnTo>
                    <a:pt x="7749607" y="6895622"/>
                  </a:lnTo>
                  <a:lnTo>
                    <a:pt x="0" y="6895622"/>
                  </a:lnTo>
                  <a:close/>
                </a:path>
              </a:pathLst>
            </a:custGeom>
            <a:gradFill rotWithShape="1">
              <a:gsLst>
                <a:gs pos="0">
                  <a:srgbClr val="6A8AFF">
                    <a:alpha val="76000"/>
                  </a:srgbClr>
                </a:gs>
                <a:gs pos="100000">
                  <a:srgbClr val="B2FBFF">
                    <a:alpha val="76000"/>
                  </a:srgbClr>
                </a:gs>
              </a:gsLst>
              <a:lin ang="18900000"/>
            </a:gra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7749607" cy="6997222"/>
            </a:xfrm>
            <a:custGeom>
              <a:avLst/>
              <a:gdLst/>
              <a:ahLst/>
              <a:cxnLst/>
              <a:rect l="l" t="t" r="r" b="b"/>
              <a:pathLst>
                <a:path w="7749607" h="6997222">
                  <a:moveTo>
                    <a:pt x="0" y="6895622"/>
                  </a:moveTo>
                  <a:lnTo>
                    <a:pt x="7749607" y="6895622"/>
                  </a:lnTo>
                  <a:lnTo>
                    <a:pt x="7622607" y="6997222"/>
                  </a:lnTo>
                  <a:cubicBezTo>
                    <a:pt x="7622607" y="6997222"/>
                    <a:pt x="6632007" y="6921022"/>
                    <a:pt x="6530407" y="6921022"/>
                  </a:cubicBezTo>
                  <a:lnTo>
                    <a:pt x="1219200" y="6921022"/>
                  </a:lnTo>
                  <a:cubicBezTo>
                    <a:pt x="1117600" y="6921022"/>
                    <a:pt x="127000" y="6997222"/>
                    <a:pt x="127000" y="6997222"/>
                  </a:cubicBezTo>
                  <a:lnTo>
                    <a:pt x="0" y="6895622"/>
                  </a:lnTo>
                  <a:lnTo>
                    <a:pt x="0" y="0"/>
                  </a:lnTo>
                  <a:lnTo>
                    <a:pt x="7749607" y="0"/>
                  </a:lnTo>
                  <a:lnTo>
                    <a:pt x="7749607" y="6895622"/>
                  </a:lnTo>
                  <a:lnTo>
                    <a:pt x="12700" y="6895622"/>
                  </a:lnTo>
                  <a:lnTo>
                    <a:pt x="12700" y="6882922"/>
                  </a:lnTo>
                  <a:lnTo>
                    <a:pt x="7736907" y="6882922"/>
                  </a:lnTo>
                  <a:lnTo>
                    <a:pt x="7736907" y="12700"/>
                  </a:lnTo>
                  <a:lnTo>
                    <a:pt x="12700" y="12700"/>
                  </a:lnTo>
                  <a:lnTo>
                    <a:pt x="12700" y="6895622"/>
                  </a:lnTo>
                </a:path>
              </a:pathLst>
            </a:custGeom>
            <a:solidFill>
              <a:srgbClr val="394C60">
                <a:alpha val="392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7749607" cy="6486047"/>
            </a:xfrm>
            <a:prstGeom prst="rect">
              <a:avLst/>
            </a:prstGeom>
          </p:spPr>
          <p:txBody>
            <a:bodyPr lIns="188084" tIns="188084" rIns="188084" bIns="188084" rtlCol="0" anchor="t"/>
            <a:lstStyle/>
            <a:p>
              <a:pPr algn="l">
                <a:lnSpc>
                  <a:spcPts val="3498"/>
                </a:lnSpc>
              </a:pPr>
              <a:r>
                <a:rPr lang="en-US" sz="2499" b="1">
                  <a:solidFill>
                    <a:srgbClr val="000000">
                      <a:alpha val="75686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Key Insights</a:t>
              </a:r>
            </a:p>
            <a:p>
              <a:pPr algn="l">
                <a:lnSpc>
                  <a:spcPts val="2462"/>
                </a:lnSpc>
              </a:pPr>
              <a:r>
                <a:rPr lang="en-US" sz="1758">
                  <a:solidFill>
                    <a:srgbClr val="000000">
                      <a:alpha val="75686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✔  73.5% of customers stayed, while 26.5% churned.</a:t>
              </a:r>
            </a:p>
            <a:p>
              <a:pPr algn="l">
                <a:lnSpc>
                  <a:spcPts val="2462"/>
                </a:lnSpc>
              </a:pPr>
              <a:r>
                <a:rPr lang="en-US" sz="1758">
                  <a:solidFill>
                    <a:srgbClr val="000000">
                      <a:alpha val="75686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✔ Most customers are between 30–50 years of age.</a:t>
              </a:r>
            </a:p>
            <a:p>
              <a:pPr algn="l">
                <a:lnSpc>
                  <a:spcPts val="2462"/>
                </a:lnSpc>
              </a:pPr>
              <a:r>
                <a:rPr lang="en-US" sz="1758">
                  <a:solidFill>
                    <a:srgbClr val="000000">
                      <a:alpha val="75686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✔ Monthly charges are generally between 20 and 80.</a:t>
              </a:r>
            </a:p>
            <a:p>
              <a:pPr algn="l">
                <a:lnSpc>
                  <a:spcPts val="2462"/>
                </a:lnSpc>
              </a:pPr>
              <a:r>
                <a:rPr lang="en-US" sz="1758">
                  <a:solidFill>
                    <a:srgbClr val="000000">
                      <a:alpha val="75686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✔ The majority of customers use month-to-month contracts.</a:t>
              </a:r>
            </a:p>
            <a:p>
              <a:pPr algn="l">
                <a:lnSpc>
                  <a:spcPts val="2462"/>
                </a:lnSpc>
              </a:pPr>
              <a:r>
                <a:rPr lang="en-US" sz="1758">
                  <a:solidFill>
                    <a:srgbClr val="000000">
                      <a:alpha val="75686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✔ Tenure and Total Charges show a positive relationship with customer behavior and help predict churn.</a:t>
              </a:r>
            </a:p>
            <a:p>
              <a:pPr algn="l">
                <a:lnSpc>
                  <a:spcPts val="246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20532" y="3625485"/>
            <a:ext cx="5477544" cy="3880769"/>
          </a:xfrm>
          <a:custGeom>
            <a:avLst/>
            <a:gdLst/>
            <a:ahLst/>
            <a:cxnLst/>
            <a:rect l="l" t="t" r="r" b="b"/>
            <a:pathLst>
              <a:path w="5477544" h="3880769">
                <a:moveTo>
                  <a:pt x="0" y="0"/>
                </a:moveTo>
                <a:lnTo>
                  <a:pt x="5477544" y="0"/>
                </a:lnTo>
                <a:lnTo>
                  <a:pt x="5477544" y="3880769"/>
                </a:lnTo>
                <a:lnTo>
                  <a:pt x="0" y="3880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506881" y="2345175"/>
            <a:ext cx="5246148" cy="883825"/>
            <a:chOff x="0" y="0"/>
            <a:chExt cx="1381701" cy="2327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701" cy="232777"/>
            </a:xfrm>
            <a:custGeom>
              <a:avLst/>
              <a:gdLst/>
              <a:ahLst/>
              <a:cxnLst/>
              <a:rect l="l" t="t" r="r" b="b"/>
              <a:pathLst>
                <a:path w="1381701" h="232777">
                  <a:moveTo>
                    <a:pt x="25087" y="0"/>
                  </a:moveTo>
                  <a:lnTo>
                    <a:pt x="1356614" y="0"/>
                  </a:lnTo>
                  <a:cubicBezTo>
                    <a:pt x="1370469" y="0"/>
                    <a:pt x="1381701" y="11232"/>
                    <a:pt x="1381701" y="25087"/>
                  </a:cubicBezTo>
                  <a:lnTo>
                    <a:pt x="1381701" y="207689"/>
                  </a:lnTo>
                  <a:cubicBezTo>
                    <a:pt x="1381701" y="221545"/>
                    <a:pt x="1370469" y="232777"/>
                    <a:pt x="1356614" y="232777"/>
                  </a:cubicBezTo>
                  <a:lnTo>
                    <a:pt x="25087" y="232777"/>
                  </a:lnTo>
                  <a:cubicBezTo>
                    <a:pt x="11232" y="232777"/>
                    <a:pt x="0" y="221545"/>
                    <a:pt x="0" y="207689"/>
                  </a:cubicBezTo>
                  <a:lnTo>
                    <a:pt x="0" y="25087"/>
                  </a:lnTo>
                  <a:cubicBezTo>
                    <a:pt x="0" y="11232"/>
                    <a:pt x="11232" y="0"/>
                    <a:pt x="25087" y="0"/>
                  </a:cubicBezTo>
                  <a:close/>
                </a:path>
              </a:pathLst>
            </a:custGeom>
            <a:solidFill>
              <a:srgbClr val="2377B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1381701" cy="308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2"/>
                </a:lnSpc>
              </a:pPr>
              <a:r>
                <a:rPr lang="en-US" sz="3929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Logistic Regression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651928" y="2345155"/>
            <a:ext cx="5246148" cy="883844"/>
            <a:chOff x="0" y="0"/>
            <a:chExt cx="1381701" cy="2327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1701" cy="232782"/>
            </a:xfrm>
            <a:custGeom>
              <a:avLst/>
              <a:gdLst/>
              <a:ahLst/>
              <a:cxnLst/>
              <a:rect l="l" t="t" r="r" b="b"/>
              <a:pathLst>
                <a:path w="1381701" h="232782">
                  <a:moveTo>
                    <a:pt x="25087" y="0"/>
                  </a:moveTo>
                  <a:lnTo>
                    <a:pt x="1356614" y="0"/>
                  </a:lnTo>
                  <a:cubicBezTo>
                    <a:pt x="1370469" y="0"/>
                    <a:pt x="1381701" y="11232"/>
                    <a:pt x="1381701" y="25087"/>
                  </a:cubicBezTo>
                  <a:lnTo>
                    <a:pt x="1381701" y="207695"/>
                  </a:lnTo>
                  <a:cubicBezTo>
                    <a:pt x="1381701" y="221550"/>
                    <a:pt x="1370469" y="232782"/>
                    <a:pt x="1356614" y="232782"/>
                  </a:cubicBezTo>
                  <a:lnTo>
                    <a:pt x="25087" y="232782"/>
                  </a:lnTo>
                  <a:cubicBezTo>
                    <a:pt x="11232" y="232782"/>
                    <a:pt x="0" y="221550"/>
                    <a:pt x="0" y="207695"/>
                  </a:cubicBezTo>
                  <a:lnTo>
                    <a:pt x="0" y="25087"/>
                  </a:lnTo>
                  <a:cubicBezTo>
                    <a:pt x="0" y="11232"/>
                    <a:pt x="11232" y="0"/>
                    <a:pt x="25087" y="0"/>
                  </a:cubicBezTo>
                  <a:close/>
                </a:path>
              </a:pathLst>
            </a:custGeom>
            <a:solidFill>
              <a:srgbClr val="2377B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1381701" cy="308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2"/>
                </a:lnSpc>
              </a:pPr>
              <a:r>
                <a:rPr lang="en-US" sz="393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Linear Regression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64785" y="2345155"/>
            <a:ext cx="5246148" cy="883825"/>
            <a:chOff x="0" y="0"/>
            <a:chExt cx="1381701" cy="2327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1701" cy="232777"/>
            </a:xfrm>
            <a:custGeom>
              <a:avLst/>
              <a:gdLst/>
              <a:ahLst/>
              <a:cxnLst/>
              <a:rect l="l" t="t" r="r" b="b"/>
              <a:pathLst>
                <a:path w="1381701" h="232777">
                  <a:moveTo>
                    <a:pt x="25087" y="0"/>
                  </a:moveTo>
                  <a:lnTo>
                    <a:pt x="1356614" y="0"/>
                  </a:lnTo>
                  <a:cubicBezTo>
                    <a:pt x="1370469" y="0"/>
                    <a:pt x="1381701" y="11232"/>
                    <a:pt x="1381701" y="25087"/>
                  </a:cubicBezTo>
                  <a:lnTo>
                    <a:pt x="1381701" y="207689"/>
                  </a:lnTo>
                  <a:cubicBezTo>
                    <a:pt x="1381701" y="221545"/>
                    <a:pt x="1370469" y="232777"/>
                    <a:pt x="1356614" y="232777"/>
                  </a:cubicBezTo>
                  <a:lnTo>
                    <a:pt x="25087" y="232777"/>
                  </a:lnTo>
                  <a:cubicBezTo>
                    <a:pt x="11232" y="232777"/>
                    <a:pt x="0" y="221545"/>
                    <a:pt x="0" y="207689"/>
                  </a:cubicBezTo>
                  <a:lnTo>
                    <a:pt x="0" y="25087"/>
                  </a:lnTo>
                  <a:cubicBezTo>
                    <a:pt x="0" y="11232"/>
                    <a:pt x="11232" y="0"/>
                    <a:pt x="25087" y="0"/>
                  </a:cubicBezTo>
                  <a:close/>
                </a:path>
              </a:pathLst>
            </a:custGeom>
            <a:solidFill>
              <a:srgbClr val="2377B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381701" cy="308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02"/>
                </a:lnSpc>
              </a:pPr>
              <a:r>
                <a:rPr lang="en-US" sz="3929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Ridge Regression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6895100" y="3581518"/>
            <a:ext cx="4915832" cy="3968703"/>
          </a:xfrm>
          <a:custGeom>
            <a:avLst/>
            <a:gdLst/>
            <a:ahLst/>
            <a:cxnLst/>
            <a:rect l="l" t="t" r="r" b="b"/>
            <a:pathLst>
              <a:path w="4915832" h="3968703">
                <a:moveTo>
                  <a:pt x="0" y="0"/>
                </a:moveTo>
                <a:lnTo>
                  <a:pt x="4915832" y="0"/>
                </a:lnTo>
                <a:lnTo>
                  <a:pt x="4915832" y="3968703"/>
                </a:lnTo>
                <a:lnTo>
                  <a:pt x="0" y="3968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75" r="-6975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506881" y="3625485"/>
            <a:ext cx="5832124" cy="3970370"/>
          </a:xfrm>
          <a:custGeom>
            <a:avLst/>
            <a:gdLst/>
            <a:ahLst/>
            <a:cxnLst/>
            <a:rect l="l" t="t" r="r" b="b"/>
            <a:pathLst>
              <a:path w="5832124" h="3970370">
                <a:moveTo>
                  <a:pt x="0" y="0"/>
                </a:moveTo>
                <a:lnTo>
                  <a:pt x="5832124" y="0"/>
                </a:lnTo>
                <a:lnTo>
                  <a:pt x="5832124" y="3970370"/>
                </a:lnTo>
                <a:lnTo>
                  <a:pt x="0" y="39703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0" y="425088"/>
            <a:ext cx="17646738" cy="1283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6"/>
              </a:lnSpc>
            </a:pPr>
            <a:r>
              <a:rPr lang="en-US" sz="8952" b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MACHINE LEARN</a:t>
            </a:r>
            <a:r>
              <a:rPr lang="en-US" sz="8952" b="1">
                <a:solidFill>
                  <a:srgbClr val="4A7FF7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ING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538079"/>
            <a:chOff x="0" y="0"/>
            <a:chExt cx="4816593" cy="4050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05091"/>
            </a:xfrm>
            <a:custGeom>
              <a:avLst/>
              <a:gdLst/>
              <a:ahLst/>
              <a:cxnLst/>
              <a:rect l="l" t="t" r="r" b="b"/>
              <a:pathLst>
                <a:path w="4816592" h="405091">
                  <a:moveTo>
                    <a:pt x="0" y="0"/>
                  </a:moveTo>
                  <a:lnTo>
                    <a:pt x="4816592" y="0"/>
                  </a:lnTo>
                  <a:lnTo>
                    <a:pt x="4816592" y="405091"/>
                  </a:lnTo>
                  <a:lnTo>
                    <a:pt x="0" y="405091"/>
                  </a:lnTo>
                  <a:close/>
                </a:path>
              </a:pathLst>
            </a:custGeom>
            <a:solidFill>
              <a:srgbClr val="2377B1"/>
            </a:solidFill>
            <a:ln w="38100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43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3384" y="3976959"/>
            <a:ext cx="2544679" cy="254467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7CCE6B">
                    <a:alpha val="100000"/>
                  </a:srgbClr>
                </a:gs>
                <a:gs pos="100000">
                  <a:srgbClr val="D8FFD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392729" y="3976959"/>
            <a:ext cx="2544679" cy="254467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3B0F2">
                    <a:alpha val="100000"/>
                  </a:srgbClr>
                </a:gs>
                <a:gs pos="100000">
                  <a:srgbClr val="FDF5B9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76197" y="3976959"/>
            <a:ext cx="2544679" cy="254467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4A9FF">
                    <a:alpha val="100000"/>
                  </a:srgbClr>
                </a:gs>
                <a:gs pos="100000">
                  <a:srgbClr val="F5F8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275310" y="3976959"/>
            <a:ext cx="2544679" cy="254467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DA6A">
                    <a:alpha val="100000"/>
                  </a:srgbClr>
                </a:gs>
                <a:gs pos="100000">
                  <a:srgbClr val="FFF7D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424184" y="3976959"/>
            <a:ext cx="2544679" cy="2544679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9986">
                    <a:alpha val="100000"/>
                  </a:srgbClr>
                </a:gs>
                <a:gs pos="100000">
                  <a:srgbClr val="C4FFF0">
                    <a:alpha val="100000"/>
                  </a:srgbClr>
                </a:gs>
              </a:gsLst>
              <a:lin ang="189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50880" y="3976959"/>
            <a:ext cx="2544679" cy="254467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93FF">
                    <a:alpha val="100000"/>
                  </a:srgbClr>
                </a:gs>
                <a:gs pos="100000">
                  <a:srgbClr val="FDF1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835554" y="4429130"/>
            <a:ext cx="1300339" cy="1640336"/>
          </a:xfrm>
          <a:custGeom>
            <a:avLst/>
            <a:gdLst/>
            <a:ahLst/>
            <a:cxnLst/>
            <a:rect l="l" t="t" r="r" b="b"/>
            <a:pathLst>
              <a:path w="1300339" h="1640336">
                <a:moveTo>
                  <a:pt x="0" y="0"/>
                </a:moveTo>
                <a:lnTo>
                  <a:pt x="1300339" y="0"/>
                </a:lnTo>
                <a:lnTo>
                  <a:pt x="1300339" y="1640337"/>
                </a:lnTo>
                <a:lnTo>
                  <a:pt x="0" y="1640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3705182" y="4229484"/>
            <a:ext cx="1919773" cy="1839982"/>
          </a:xfrm>
          <a:custGeom>
            <a:avLst/>
            <a:gdLst/>
            <a:ahLst/>
            <a:cxnLst/>
            <a:rect l="l" t="t" r="r" b="b"/>
            <a:pathLst>
              <a:path w="1919773" h="1839982">
                <a:moveTo>
                  <a:pt x="0" y="0"/>
                </a:moveTo>
                <a:lnTo>
                  <a:pt x="1919773" y="0"/>
                </a:lnTo>
                <a:lnTo>
                  <a:pt x="1919773" y="1839983"/>
                </a:lnTo>
                <a:lnTo>
                  <a:pt x="0" y="18399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65" r="-15265" b="-5409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872661" y="4529488"/>
            <a:ext cx="1751750" cy="1439620"/>
          </a:xfrm>
          <a:custGeom>
            <a:avLst/>
            <a:gdLst/>
            <a:ahLst/>
            <a:cxnLst/>
            <a:rect l="l" t="t" r="r" b="b"/>
            <a:pathLst>
              <a:path w="1751750" h="1439620">
                <a:moveTo>
                  <a:pt x="0" y="0"/>
                </a:moveTo>
                <a:lnTo>
                  <a:pt x="1751751" y="0"/>
                </a:lnTo>
                <a:lnTo>
                  <a:pt x="1751751" y="1439621"/>
                </a:lnTo>
                <a:lnTo>
                  <a:pt x="0" y="14396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071303" y="4471309"/>
            <a:ext cx="1426356" cy="1598158"/>
          </a:xfrm>
          <a:custGeom>
            <a:avLst/>
            <a:gdLst/>
            <a:ahLst/>
            <a:cxnLst/>
            <a:rect l="l" t="t" r="r" b="b"/>
            <a:pathLst>
              <a:path w="1426356" h="1598158">
                <a:moveTo>
                  <a:pt x="0" y="0"/>
                </a:moveTo>
                <a:lnTo>
                  <a:pt x="1426357" y="0"/>
                </a:lnTo>
                <a:lnTo>
                  <a:pt x="1426357" y="1598158"/>
                </a:lnTo>
                <a:lnTo>
                  <a:pt x="0" y="1598158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3043309" y="4529488"/>
            <a:ext cx="1444162" cy="1446792"/>
          </a:xfrm>
          <a:custGeom>
            <a:avLst/>
            <a:gdLst/>
            <a:ahLst/>
            <a:cxnLst/>
            <a:rect l="l" t="t" r="r" b="b"/>
            <a:pathLst>
              <a:path w="1444162" h="1446792">
                <a:moveTo>
                  <a:pt x="0" y="0"/>
                </a:moveTo>
                <a:lnTo>
                  <a:pt x="1444161" y="0"/>
                </a:lnTo>
                <a:lnTo>
                  <a:pt x="1444161" y="1446792"/>
                </a:lnTo>
                <a:lnTo>
                  <a:pt x="0" y="14467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003472" y="4609027"/>
            <a:ext cx="1232089" cy="1322722"/>
          </a:xfrm>
          <a:custGeom>
            <a:avLst/>
            <a:gdLst/>
            <a:ahLst/>
            <a:cxnLst/>
            <a:rect l="l" t="t" r="r" b="b"/>
            <a:pathLst>
              <a:path w="1232089" h="1322722">
                <a:moveTo>
                  <a:pt x="0" y="0"/>
                </a:moveTo>
                <a:lnTo>
                  <a:pt x="1232090" y="0"/>
                </a:lnTo>
                <a:lnTo>
                  <a:pt x="1232090" y="1322722"/>
                </a:lnTo>
                <a:lnTo>
                  <a:pt x="0" y="1322722"/>
                </a:lnTo>
                <a:lnTo>
                  <a:pt x="0" y="0"/>
                </a:lnTo>
                <a:close/>
              </a:path>
            </a:pathLst>
          </a:custGeom>
          <a:blipFill>
            <a:blip r:embed="rId10" cstate="print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900989" y="165428"/>
            <a:ext cx="15942738" cy="1283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36"/>
              </a:lnSpc>
            </a:pPr>
            <a:r>
              <a:rPr lang="en-US" sz="8952" b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MODEL TRAINING PROCESS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358735" y="6781616"/>
            <a:ext cx="2399329" cy="617083"/>
            <a:chOff x="0" y="0"/>
            <a:chExt cx="631922" cy="16252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1922" cy="162524"/>
            </a:xfrm>
            <a:custGeom>
              <a:avLst/>
              <a:gdLst/>
              <a:ahLst/>
              <a:cxnLst/>
              <a:rect l="l" t="t" r="r" b="b"/>
              <a:pathLst>
                <a:path w="631922" h="162524">
                  <a:moveTo>
                    <a:pt x="81262" y="0"/>
                  </a:moveTo>
                  <a:lnTo>
                    <a:pt x="550660" y="0"/>
                  </a:lnTo>
                  <a:cubicBezTo>
                    <a:pt x="572212" y="0"/>
                    <a:pt x="592881" y="8562"/>
                    <a:pt x="608121" y="23801"/>
                  </a:cubicBezTo>
                  <a:cubicBezTo>
                    <a:pt x="623360" y="39041"/>
                    <a:pt x="631922" y="59710"/>
                    <a:pt x="631922" y="81262"/>
                  </a:cubicBezTo>
                  <a:lnTo>
                    <a:pt x="631922" y="81262"/>
                  </a:lnTo>
                  <a:cubicBezTo>
                    <a:pt x="631922" y="126142"/>
                    <a:pt x="595540" y="162524"/>
                    <a:pt x="550660" y="162524"/>
                  </a:cubicBezTo>
                  <a:lnTo>
                    <a:pt x="81262" y="162524"/>
                  </a:lnTo>
                  <a:cubicBezTo>
                    <a:pt x="59710" y="162524"/>
                    <a:pt x="39041" y="153962"/>
                    <a:pt x="23801" y="138723"/>
                  </a:cubicBezTo>
                  <a:cubicBezTo>
                    <a:pt x="8562" y="123483"/>
                    <a:pt x="0" y="102814"/>
                    <a:pt x="0" y="81262"/>
                  </a:cubicBezTo>
                  <a:lnTo>
                    <a:pt x="0" y="81262"/>
                  </a:lnTo>
                  <a:cubicBezTo>
                    <a:pt x="0" y="59710"/>
                    <a:pt x="8562" y="39041"/>
                    <a:pt x="23801" y="23801"/>
                  </a:cubicBezTo>
                  <a:cubicBezTo>
                    <a:pt x="39041" y="8562"/>
                    <a:pt x="59710" y="0"/>
                    <a:pt x="8126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631922" cy="219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62853" y="6714941"/>
            <a:ext cx="164574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3465404" y="6712954"/>
            <a:ext cx="2575118" cy="1251114"/>
            <a:chOff x="0" y="0"/>
            <a:chExt cx="678220" cy="32951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78220" cy="329512"/>
            </a:xfrm>
            <a:custGeom>
              <a:avLst/>
              <a:gdLst/>
              <a:ahLst/>
              <a:cxnLst/>
              <a:rect l="l" t="t" r="r" b="b"/>
              <a:pathLst>
                <a:path w="678220" h="329512">
                  <a:moveTo>
                    <a:pt x="123264" y="0"/>
                  </a:moveTo>
                  <a:lnTo>
                    <a:pt x="554957" y="0"/>
                  </a:lnTo>
                  <a:cubicBezTo>
                    <a:pt x="587648" y="0"/>
                    <a:pt x="619001" y="12987"/>
                    <a:pt x="642117" y="36103"/>
                  </a:cubicBezTo>
                  <a:cubicBezTo>
                    <a:pt x="665234" y="59220"/>
                    <a:pt x="678220" y="90572"/>
                    <a:pt x="678220" y="123264"/>
                  </a:cubicBezTo>
                  <a:lnTo>
                    <a:pt x="678220" y="206248"/>
                  </a:lnTo>
                  <a:cubicBezTo>
                    <a:pt x="678220" y="238939"/>
                    <a:pt x="665234" y="270292"/>
                    <a:pt x="642117" y="293408"/>
                  </a:cubicBezTo>
                  <a:cubicBezTo>
                    <a:pt x="619001" y="316525"/>
                    <a:pt x="587648" y="329512"/>
                    <a:pt x="554957" y="329512"/>
                  </a:cubicBezTo>
                  <a:lnTo>
                    <a:pt x="123264" y="329512"/>
                  </a:lnTo>
                  <a:cubicBezTo>
                    <a:pt x="90572" y="329512"/>
                    <a:pt x="59220" y="316525"/>
                    <a:pt x="36103" y="293408"/>
                  </a:cubicBezTo>
                  <a:cubicBezTo>
                    <a:pt x="12987" y="270292"/>
                    <a:pt x="0" y="238939"/>
                    <a:pt x="0" y="206248"/>
                  </a:cubicBezTo>
                  <a:lnTo>
                    <a:pt x="0" y="123264"/>
                  </a:lnTo>
                  <a:cubicBezTo>
                    <a:pt x="0" y="90572"/>
                    <a:pt x="12987" y="59220"/>
                    <a:pt x="36103" y="36103"/>
                  </a:cubicBezTo>
                  <a:cubicBezTo>
                    <a:pt x="59220" y="12987"/>
                    <a:pt x="90572" y="0"/>
                    <a:pt x="12326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678220" cy="3866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27397" y="6714941"/>
            <a:ext cx="214937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Train-test </a:t>
            </a:r>
          </a:p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Split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621548" y="6747660"/>
            <a:ext cx="2399329" cy="1319746"/>
            <a:chOff x="0" y="0"/>
            <a:chExt cx="631922" cy="34758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31922" cy="347587"/>
            </a:xfrm>
            <a:custGeom>
              <a:avLst/>
              <a:gdLst/>
              <a:ahLst/>
              <a:cxnLst/>
              <a:rect l="l" t="t" r="r" b="b"/>
              <a:pathLst>
                <a:path w="631922" h="347587">
                  <a:moveTo>
                    <a:pt x="132295" y="0"/>
                  </a:moveTo>
                  <a:lnTo>
                    <a:pt x="499627" y="0"/>
                  </a:lnTo>
                  <a:cubicBezTo>
                    <a:pt x="534714" y="0"/>
                    <a:pt x="568364" y="13938"/>
                    <a:pt x="593174" y="38748"/>
                  </a:cubicBezTo>
                  <a:cubicBezTo>
                    <a:pt x="617984" y="63558"/>
                    <a:pt x="631922" y="97208"/>
                    <a:pt x="631922" y="132295"/>
                  </a:cubicBezTo>
                  <a:lnTo>
                    <a:pt x="631922" y="215293"/>
                  </a:lnTo>
                  <a:cubicBezTo>
                    <a:pt x="631922" y="250379"/>
                    <a:pt x="617984" y="284029"/>
                    <a:pt x="593174" y="308839"/>
                  </a:cubicBezTo>
                  <a:cubicBezTo>
                    <a:pt x="568364" y="333649"/>
                    <a:pt x="534714" y="347587"/>
                    <a:pt x="499627" y="347587"/>
                  </a:cubicBezTo>
                  <a:lnTo>
                    <a:pt x="132295" y="347587"/>
                  </a:lnTo>
                  <a:cubicBezTo>
                    <a:pt x="97208" y="347587"/>
                    <a:pt x="63558" y="333649"/>
                    <a:pt x="38748" y="308839"/>
                  </a:cubicBezTo>
                  <a:cubicBezTo>
                    <a:pt x="13938" y="284029"/>
                    <a:pt x="0" y="250379"/>
                    <a:pt x="0" y="215293"/>
                  </a:cubicBezTo>
                  <a:lnTo>
                    <a:pt x="0" y="132295"/>
                  </a:lnTo>
                  <a:cubicBezTo>
                    <a:pt x="0" y="97208"/>
                    <a:pt x="13938" y="63558"/>
                    <a:pt x="38748" y="38748"/>
                  </a:cubicBezTo>
                  <a:cubicBezTo>
                    <a:pt x="63558" y="13938"/>
                    <a:pt x="97208" y="0"/>
                    <a:pt x="13229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631922" cy="404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940177" y="6758121"/>
            <a:ext cx="161672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</a:t>
            </a:r>
          </a:p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Scaling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604878" y="6842134"/>
            <a:ext cx="2399329" cy="1225272"/>
            <a:chOff x="0" y="0"/>
            <a:chExt cx="631922" cy="32270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31922" cy="322705"/>
            </a:xfrm>
            <a:custGeom>
              <a:avLst/>
              <a:gdLst/>
              <a:ahLst/>
              <a:cxnLst/>
              <a:rect l="l" t="t" r="r" b="b"/>
              <a:pathLst>
                <a:path w="631922" h="322705">
                  <a:moveTo>
                    <a:pt x="132295" y="0"/>
                  </a:moveTo>
                  <a:lnTo>
                    <a:pt x="499627" y="0"/>
                  </a:lnTo>
                  <a:cubicBezTo>
                    <a:pt x="534714" y="0"/>
                    <a:pt x="568364" y="13938"/>
                    <a:pt x="593174" y="38748"/>
                  </a:cubicBezTo>
                  <a:cubicBezTo>
                    <a:pt x="617984" y="63558"/>
                    <a:pt x="631922" y="97208"/>
                    <a:pt x="631922" y="132295"/>
                  </a:cubicBezTo>
                  <a:lnTo>
                    <a:pt x="631922" y="190411"/>
                  </a:lnTo>
                  <a:cubicBezTo>
                    <a:pt x="631922" y="263475"/>
                    <a:pt x="572692" y="322705"/>
                    <a:pt x="499627" y="322705"/>
                  </a:cubicBezTo>
                  <a:lnTo>
                    <a:pt x="132295" y="322705"/>
                  </a:lnTo>
                  <a:cubicBezTo>
                    <a:pt x="97208" y="322705"/>
                    <a:pt x="63558" y="308767"/>
                    <a:pt x="38748" y="283957"/>
                  </a:cubicBezTo>
                  <a:cubicBezTo>
                    <a:pt x="13938" y="259147"/>
                    <a:pt x="0" y="225497"/>
                    <a:pt x="0" y="190411"/>
                  </a:cubicBezTo>
                  <a:lnTo>
                    <a:pt x="0" y="132295"/>
                  </a:lnTo>
                  <a:cubicBezTo>
                    <a:pt x="0" y="97208"/>
                    <a:pt x="13938" y="63558"/>
                    <a:pt x="38748" y="38748"/>
                  </a:cubicBezTo>
                  <a:cubicBezTo>
                    <a:pt x="63558" y="13938"/>
                    <a:pt x="97208" y="0"/>
                    <a:pt x="13229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631922" cy="379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0010650" y="6758121"/>
            <a:ext cx="1547664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</a:t>
            </a:r>
          </a:p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Models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2537606" y="6781616"/>
            <a:ext cx="2592864" cy="625917"/>
            <a:chOff x="0" y="0"/>
            <a:chExt cx="682894" cy="16485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82894" cy="164851"/>
            </a:xfrm>
            <a:custGeom>
              <a:avLst/>
              <a:gdLst/>
              <a:ahLst/>
              <a:cxnLst/>
              <a:rect l="l" t="t" r="r" b="b"/>
              <a:pathLst>
                <a:path w="682894" h="164851">
                  <a:moveTo>
                    <a:pt x="82425" y="0"/>
                  </a:moveTo>
                  <a:lnTo>
                    <a:pt x="600469" y="0"/>
                  </a:lnTo>
                  <a:cubicBezTo>
                    <a:pt x="622329" y="0"/>
                    <a:pt x="643295" y="8684"/>
                    <a:pt x="658752" y="24142"/>
                  </a:cubicBezTo>
                  <a:cubicBezTo>
                    <a:pt x="674210" y="39600"/>
                    <a:pt x="682894" y="60565"/>
                    <a:pt x="682894" y="82425"/>
                  </a:cubicBezTo>
                  <a:lnTo>
                    <a:pt x="682894" y="82425"/>
                  </a:lnTo>
                  <a:cubicBezTo>
                    <a:pt x="682894" y="127948"/>
                    <a:pt x="645991" y="164851"/>
                    <a:pt x="600469" y="164851"/>
                  </a:cubicBezTo>
                  <a:lnTo>
                    <a:pt x="82425" y="164851"/>
                  </a:lnTo>
                  <a:cubicBezTo>
                    <a:pt x="60565" y="164851"/>
                    <a:pt x="39600" y="156167"/>
                    <a:pt x="24142" y="140709"/>
                  </a:cubicBezTo>
                  <a:cubicBezTo>
                    <a:pt x="8684" y="125251"/>
                    <a:pt x="0" y="104286"/>
                    <a:pt x="0" y="82425"/>
                  </a:cubicBezTo>
                  <a:lnTo>
                    <a:pt x="0" y="82425"/>
                  </a:lnTo>
                  <a:cubicBezTo>
                    <a:pt x="0" y="60565"/>
                    <a:pt x="8684" y="39600"/>
                    <a:pt x="24142" y="24142"/>
                  </a:cubicBezTo>
                  <a:cubicBezTo>
                    <a:pt x="39600" y="8684"/>
                    <a:pt x="60565" y="0"/>
                    <a:pt x="8242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57150"/>
              <a:ext cx="682894" cy="222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2740083" y="6801301"/>
            <a:ext cx="219685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Prediction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5468670" y="6781616"/>
            <a:ext cx="2592864" cy="625917"/>
            <a:chOff x="0" y="0"/>
            <a:chExt cx="682894" cy="16485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82894" cy="164851"/>
            </a:xfrm>
            <a:custGeom>
              <a:avLst/>
              <a:gdLst/>
              <a:ahLst/>
              <a:cxnLst/>
              <a:rect l="l" t="t" r="r" b="b"/>
              <a:pathLst>
                <a:path w="682894" h="164851">
                  <a:moveTo>
                    <a:pt x="82425" y="0"/>
                  </a:moveTo>
                  <a:lnTo>
                    <a:pt x="600469" y="0"/>
                  </a:lnTo>
                  <a:cubicBezTo>
                    <a:pt x="622329" y="0"/>
                    <a:pt x="643295" y="8684"/>
                    <a:pt x="658752" y="24142"/>
                  </a:cubicBezTo>
                  <a:cubicBezTo>
                    <a:pt x="674210" y="39600"/>
                    <a:pt x="682894" y="60565"/>
                    <a:pt x="682894" y="82425"/>
                  </a:cubicBezTo>
                  <a:lnTo>
                    <a:pt x="682894" y="82425"/>
                  </a:lnTo>
                  <a:cubicBezTo>
                    <a:pt x="682894" y="127948"/>
                    <a:pt x="645991" y="164851"/>
                    <a:pt x="600469" y="164851"/>
                  </a:cubicBezTo>
                  <a:lnTo>
                    <a:pt x="82425" y="164851"/>
                  </a:lnTo>
                  <a:cubicBezTo>
                    <a:pt x="60565" y="164851"/>
                    <a:pt x="39600" y="156167"/>
                    <a:pt x="24142" y="140709"/>
                  </a:cubicBezTo>
                  <a:cubicBezTo>
                    <a:pt x="8684" y="125251"/>
                    <a:pt x="0" y="104286"/>
                    <a:pt x="0" y="82425"/>
                  </a:cubicBezTo>
                  <a:lnTo>
                    <a:pt x="0" y="82425"/>
                  </a:lnTo>
                  <a:cubicBezTo>
                    <a:pt x="0" y="60565"/>
                    <a:pt x="8684" y="39600"/>
                    <a:pt x="24142" y="24142"/>
                  </a:cubicBezTo>
                  <a:cubicBezTo>
                    <a:pt x="39600" y="8684"/>
                    <a:pt x="60565" y="0"/>
                    <a:pt x="8242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682894" cy="222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5599399" y="6801301"/>
            <a:ext cx="224432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Evaluation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2723981" y="4898722"/>
            <a:ext cx="676400" cy="676400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891112" y="4898722"/>
            <a:ext cx="676400" cy="701153"/>
            <a:chOff x="0" y="0"/>
            <a:chExt cx="812800" cy="84254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42544"/>
            </a:xfrm>
            <a:custGeom>
              <a:avLst/>
              <a:gdLst/>
              <a:ahLst/>
              <a:cxnLst/>
              <a:rect l="l" t="t" r="r" b="b"/>
              <a:pathLst>
                <a:path w="812800" h="842544">
                  <a:moveTo>
                    <a:pt x="812800" y="42127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39344"/>
                  </a:lnTo>
                  <a:lnTo>
                    <a:pt x="406400" y="639344"/>
                  </a:lnTo>
                  <a:lnTo>
                    <a:pt x="406400" y="842544"/>
                  </a:lnTo>
                  <a:lnTo>
                    <a:pt x="812800" y="421272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146050"/>
              <a:ext cx="711200" cy="4932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833508" y="4932188"/>
            <a:ext cx="676400" cy="676400"/>
            <a:chOff x="0" y="0"/>
            <a:chExt cx="812800" cy="812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4792270" y="4932188"/>
            <a:ext cx="676400" cy="676400"/>
            <a:chOff x="0" y="0"/>
            <a:chExt cx="812800" cy="812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910608" y="4932188"/>
            <a:ext cx="676400" cy="676400"/>
            <a:chOff x="0" y="0"/>
            <a:chExt cx="812800" cy="8128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146050"/>
              <a:ext cx="71120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538079"/>
            <a:chOff x="0" y="0"/>
            <a:chExt cx="4816593" cy="4050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05091"/>
            </a:xfrm>
            <a:custGeom>
              <a:avLst/>
              <a:gdLst/>
              <a:ahLst/>
              <a:cxnLst/>
              <a:rect l="l" t="t" r="r" b="b"/>
              <a:pathLst>
                <a:path w="4816592" h="405091">
                  <a:moveTo>
                    <a:pt x="0" y="0"/>
                  </a:moveTo>
                  <a:lnTo>
                    <a:pt x="4816592" y="0"/>
                  </a:lnTo>
                  <a:lnTo>
                    <a:pt x="4816592" y="405091"/>
                  </a:lnTo>
                  <a:lnTo>
                    <a:pt x="0" y="405091"/>
                  </a:lnTo>
                  <a:close/>
                </a:path>
              </a:pathLst>
            </a:custGeom>
            <a:solidFill>
              <a:srgbClr val="2377B1"/>
            </a:solidFill>
            <a:ln w="38100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43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55868" y="2011487"/>
            <a:ext cx="6284714" cy="3894278"/>
          </a:xfrm>
          <a:custGeom>
            <a:avLst/>
            <a:gdLst/>
            <a:ahLst/>
            <a:cxnLst/>
            <a:rect l="l" t="t" r="r" b="b"/>
            <a:pathLst>
              <a:path w="6284714" h="3894278">
                <a:moveTo>
                  <a:pt x="0" y="0"/>
                </a:moveTo>
                <a:lnTo>
                  <a:pt x="6284713" y="0"/>
                </a:lnTo>
                <a:lnTo>
                  <a:pt x="6284713" y="3894278"/>
                </a:lnTo>
                <a:lnTo>
                  <a:pt x="0" y="3894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9872358" y="1941005"/>
            <a:ext cx="6156836" cy="3941266"/>
          </a:xfrm>
          <a:custGeom>
            <a:avLst/>
            <a:gdLst/>
            <a:ahLst/>
            <a:cxnLst/>
            <a:rect l="l" t="t" r="r" b="b"/>
            <a:pathLst>
              <a:path w="6156836" h="3941266">
                <a:moveTo>
                  <a:pt x="0" y="0"/>
                </a:moveTo>
                <a:lnTo>
                  <a:pt x="6156837" y="0"/>
                </a:lnTo>
                <a:lnTo>
                  <a:pt x="6156837" y="3941266"/>
                </a:lnTo>
                <a:lnTo>
                  <a:pt x="0" y="3941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971072" y="6894926"/>
            <a:ext cx="5858150" cy="3392074"/>
          </a:xfrm>
          <a:custGeom>
            <a:avLst/>
            <a:gdLst/>
            <a:ahLst/>
            <a:cxnLst/>
            <a:rect l="l" t="t" r="r" b="b"/>
            <a:pathLst>
              <a:path w="5858150" h="3392074">
                <a:moveTo>
                  <a:pt x="0" y="0"/>
                </a:moveTo>
                <a:lnTo>
                  <a:pt x="5858150" y="0"/>
                </a:lnTo>
                <a:lnTo>
                  <a:pt x="5858150" y="3392074"/>
                </a:lnTo>
                <a:lnTo>
                  <a:pt x="0" y="3392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7540581" y="6379173"/>
            <a:ext cx="5410195" cy="4190724"/>
          </a:xfrm>
          <a:custGeom>
            <a:avLst/>
            <a:gdLst/>
            <a:ahLst/>
            <a:cxnLst/>
            <a:rect l="l" t="t" r="r" b="b"/>
            <a:pathLst>
              <a:path w="5410195" h="4190724">
                <a:moveTo>
                  <a:pt x="0" y="0"/>
                </a:moveTo>
                <a:lnTo>
                  <a:pt x="5410195" y="0"/>
                </a:lnTo>
                <a:lnTo>
                  <a:pt x="5410195" y="4190723"/>
                </a:lnTo>
                <a:lnTo>
                  <a:pt x="0" y="41907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3262639" y="6379173"/>
            <a:ext cx="4581088" cy="3583313"/>
          </a:xfrm>
          <a:custGeom>
            <a:avLst/>
            <a:gdLst/>
            <a:ahLst/>
            <a:cxnLst/>
            <a:rect l="l" t="t" r="r" b="b"/>
            <a:pathLst>
              <a:path w="4581088" h="3583313">
                <a:moveTo>
                  <a:pt x="0" y="0"/>
                </a:moveTo>
                <a:lnTo>
                  <a:pt x="4581088" y="0"/>
                </a:lnTo>
                <a:lnTo>
                  <a:pt x="4581088" y="3583313"/>
                </a:lnTo>
                <a:lnTo>
                  <a:pt x="0" y="3583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900989" y="165428"/>
            <a:ext cx="15942738" cy="1283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6"/>
              </a:lnSpc>
            </a:pPr>
            <a:r>
              <a:rPr lang="en-US" sz="8952" b="1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CUSTOMER SEGMENTATION</a:t>
            </a:r>
          </a:p>
        </p:txBody>
      </p:sp>
      <p:grpSp>
        <p:nvGrpSpPr>
          <p:cNvPr id="11" name="Group 11"/>
          <p:cNvGrpSpPr/>
          <p:nvPr/>
        </p:nvGrpSpPr>
        <p:grpSpPr>
          <a:xfrm rot="-2092339">
            <a:off x="-242751" y="2284224"/>
            <a:ext cx="3325129" cy="575819"/>
            <a:chOff x="0" y="0"/>
            <a:chExt cx="875754" cy="1516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5754" cy="151656"/>
            </a:xfrm>
            <a:custGeom>
              <a:avLst/>
              <a:gdLst/>
              <a:ahLst/>
              <a:cxnLst/>
              <a:rect l="l" t="t" r="r" b="b"/>
              <a:pathLst>
                <a:path w="875754" h="151656">
                  <a:moveTo>
                    <a:pt x="39581" y="0"/>
                  </a:moveTo>
                  <a:lnTo>
                    <a:pt x="836173" y="0"/>
                  </a:lnTo>
                  <a:cubicBezTo>
                    <a:pt x="846670" y="0"/>
                    <a:pt x="856738" y="4170"/>
                    <a:pt x="864161" y="11593"/>
                  </a:cubicBezTo>
                  <a:cubicBezTo>
                    <a:pt x="871584" y="19016"/>
                    <a:pt x="875754" y="29084"/>
                    <a:pt x="875754" y="39581"/>
                  </a:cubicBezTo>
                  <a:lnTo>
                    <a:pt x="875754" y="112075"/>
                  </a:lnTo>
                  <a:cubicBezTo>
                    <a:pt x="875754" y="122572"/>
                    <a:pt x="871584" y="132640"/>
                    <a:pt x="864161" y="140063"/>
                  </a:cubicBezTo>
                  <a:cubicBezTo>
                    <a:pt x="856738" y="147486"/>
                    <a:pt x="846670" y="151656"/>
                    <a:pt x="836173" y="151656"/>
                  </a:cubicBezTo>
                  <a:lnTo>
                    <a:pt x="39581" y="151656"/>
                  </a:lnTo>
                  <a:cubicBezTo>
                    <a:pt x="29084" y="151656"/>
                    <a:pt x="19016" y="147486"/>
                    <a:pt x="11593" y="140063"/>
                  </a:cubicBezTo>
                  <a:cubicBezTo>
                    <a:pt x="4170" y="132640"/>
                    <a:pt x="0" y="122572"/>
                    <a:pt x="0" y="112075"/>
                  </a:cubicBezTo>
                  <a:lnTo>
                    <a:pt x="0" y="39581"/>
                  </a:lnTo>
                  <a:cubicBezTo>
                    <a:pt x="0" y="29084"/>
                    <a:pt x="4170" y="19016"/>
                    <a:pt x="11593" y="11593"/>
                  </a:cubicBezTo>
                  <a:cubicBezTo>
                    <a:pt x="19016" y="4170"/>
                    <a:pt x="29084" y="0"/>
                    <a:pt x="39581" y="0"/>
                  </a:cubicBezTo>
                  <a:close/>
                </a:path>
              </a:pathLst>
            </a:custGeom>
            <a:solidFill>
              <a:srgbClr val="A4B9FB"/>
            </a:solidFill>
            <a:ln w="38100" cap="sq">
              <a:solidFill>
                <a:srgbClr val="064D6D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75754" cy="2088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 rot="-1951856">
            <a:off x="-118319" y="2253832"/>
            <a:ext cx="304041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Elbow Method</a:t>
            </a:r>
          </a:p>
        </p:txBody>
      </p:sp>
      <p:grpSp>
        <p:nvGrpSpPr>
          <p:cNvPr id="15" name="Group 15"/>
          <p:cNvGrpSpPr/>
          <p:nvPr/>
        </p:nvGrpSpPr>
        <p:grpSpPr>
          <a:xfrm rot="2036311">
            <a:off x="13890619" y="2062858"/>
            <a:ext cx="3325129" cy="672390"/>
            <a:chOff x="0" y="0"/>
            <a:chExt cx="875754" cy="1770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5754" cy="177090"/>
            </a:xfrm>
            <a:custGeom>
              <a:avLst/>
              <a:gdLst/>
              <a:ahLst/>
              <a:cxnLst/>
              <a:rect l="l" t="t" r="r" b="b"/>
              <a:pathLst>
                <a:path w="875754" h="177090">
                  <a:moveTo>
                    <a:pt x="39581" y="0"/>
                  </a:moveTo>
                  <a:lnTo>
                    <a:pt x="836173" y="0"/>
                  </a:lnTo>
                  <a:cubicBezTo>
                    <a:pt x="846670" y="0"/>
                    <a:pt x="856738" y="4170"/>
                    <a:pt x="864161" y="11593"/>
                  </a:cubicBezTo>
                  <a:cubicBezTo>
                    <a:pt x="871584" y="19016"/>
                    <a:pt x="875754" y="29084"/>
                    <a:pt x="875754" y="39581"/>
                  </a:cubicBezTo>
                  <a:lnTo>
                    <a:pt x="875754" y="137509"/>
                  </a:lnTo>
                  <a:cubicBezTo>
                    <a:pt x="875754" y="148007"/>
                    <a:pt x="871584" y="158075"/>
                    <a:pt x="864161" y="165497"/>
                  </a:cubicBezTo>
                  <a:cubicBezTo>
                    <a:pt x="856738" y="172920"/>
                    <a:pt x="846670" y="177090"/>
                    <a:pt x="836173" y="177090"/>
                  </a:cubicBezTo>
                  <a:lnTo>
                    <a:pt x="39581" y="177090"/>
                  </a:lnTo>
                  <a:cubicBezTo>
                    <a:pt x="29084" y="177090"/>
                    <a:pt x="19016" y="172920"/>
                    <a:pt x="11593" y="165497"/>
                  </a:cubicBezTo>
                  <a:cubicBezTo>
                    <a:pt x="4170" y="158075"/>
                    <a:pt x="0" y="148007"/>
                    <a:pt x="0" y="137509"/>
                  </a:cubicBezTo>
                  <a:lnTo>
                    <a:pt x="0" y="39581"/>
                  </a:lnTo>
                  <a:cubicBezTo>
                    <a:pt x="0" y="29084"/>
                    <a:pt x="4170" y="19016"/>
                    <a:pt x="11593" y="11593"/>
                  </a:cubicBezTo>
                  <a:cubicBezTo>
                    <a:pt x="19016" y="4170"/>
                    <a:pt x="29084" y="0"/>
                    <a:pt x="39581" y="0"/>
                  </a:cubicBezTo>
                  <a:close/>
                </a:path>
              </a:pathLst>
            </a:custGeom>
            <a:solidFill>
              <a:srgbClr val="A4B9FB"/>
            </a:solidFill>
            <a:ln w="38100" cap="sq">
              <a:solidFill>
                <a:srgbClr val="064D6D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875754" cy="234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r>
                <a:rPr lang="en-US" sz="253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Silhoutte Analysis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 rot="-2494990">
            <a:off x="395650" y="6790348"/>
            <a:ext cx="1602807" cy="672390"/>
            <a:chOff x="0" y="0"/>
            <a:chExt cx="422139" cy="1770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22139" cy="177090"/>
            </a:xfrm>
            <a:custGeom>
              <a:avLst/>
              <a:gdLst/>
              <a:ahLst/>
              <a:cxnLst/>
              <a:rect l="l" t="t" r="r" b="b"/>
              <a:pathLst>
                <a:path w="422139" h="177090">
                  <a:moveTo>
                    <a:pt x="82114" y="0"/>
                  </a:moveTo>
                  <a:lnTo>
                    <a:pt x="340025" y="0"/>
                  </a:lnTo>
                  <a:cubicBezTo>
                    <a:pt x="361803" y="0"/>
                    <a:pt x="382689" y="8651"/>
                    <a:pt x="398088" y="24051"/>
                  </a:cubicBezTo>
                  <a:cubicBezTo>
                    <a:pt x="413487" y="39450"/>
                    <a:pt x="422139" y="60336"/>
                    <a:pt x="422139" y="82114"/>
                  </a:cubicBezTo>
                  <a:lnTo>
                    <a:pt x="422139" y="94977"/>
                  </a:lnTo>
                  <a:cubicBezTo>
                    <a:pt x="422139" y="116755"/>
                    <a:pt x="413487" y="137641"/>
                    <a:pt x="398088" y="153040"/>
                  </a:cubicBezTo>
                  <a:cubicBezTo>
                    <a:pt x="382689" y="168439"/>
                    <a:pt x="361803" y="177090"/>
                    <a:pt x="340025" y="177090"/>
                  </a:cubicBezTo>
                  <a:lnTo>
                    <a:pt x="82114" y="177090"/>
                  </a:lnTo>
                  <a:cubicBezTo>
                    <a:pt x="36764" y="177090"/>
                    <a:pt x="0" y="140327"/>
                    <a:pt x="0" y="94977"/>
                  </a:cubicBezTo>
                  <a:lnTo>
                    <a:pt x="0" y="82114"/>
                  </a:lnTo>
                  <a:cubicBezTo>
                    <a:pt x="0" y="60336"/>
                    <a:pt x="8651" y="39450"/>
                    <a:pt x="24051" y="24051"/>
                  </a:cubicBezTo>
                  <a:cubicBezTo>
                    <a:pt x="39450" y="8651"/>
                    <a:pt x="60336" y="0"/>
                    <a:pt x="82114" y="0"/>
                  </a:cubicBezTo>
                  <a:close/>
                </a:path>
              </a:pathLst>
            </a:custGeom>
            <a:solidFill>
              <a:srgbClr val="A4B9FB"/>
            </a:solidFill>
            <a:ln w="38100" cap="sq">
              <a:solidFill>
                <a:srgbClr val="064D6D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422139" cy="234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r>
                <a:rPr lang="en-US" sz="253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PCA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 rot="-2494990">
            <a:off x="7060951" y="6329444"/>
            <a:ext cx="1602807" cy="672390"/>
            <a:chOff x="0" y="0"/>
            <a:chExt cx="422139" cy="17709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2139" cy="177090"/>
            </a:xfrm>
            <a:custGeom>
              <a:avLst/>
              <a:gdLst/>
              <a:ahLst/>
              <a:cxnLst/>
              <a:rect l="l" t="t" r="r" b="b"/>
              <a:pathLst>
                <a:path w="422139" h="177090">
                  <a:moveTo>
                    <a:pt x="82114" y="0"/>
                  </a:moveTo>
                  <a:lnTo>
                    <a:pt x="340025" y="0"/>
                  </a:lnTo>
                  <a:cubicBezTo>
                    <a:pt x="361803" y="0"/>
                    <a:pt x="382689" y="8651"/>
                    <a:pt x="398088" y="24051"/>
                  </a:cubicBezTo>
                  <a:cubicBezTo>
                    <a:pt x="413487" y="39450"/>
                    <a:pt x="422139" y="60336"/>
                    <a:pt x="422139" y="82114"/>
                  </a:cubicBezTo>
                  <a:lnTo>
                    <a:pt x="422139" y="94977"/>
                  </a:lnTo>
                  <a:cubicBezTo>
                    <a:pt x="422139" y="116755"/>
                    <a:pt x="413487" y="137641"/>
                    <a:pt x="398088" y="153040"/>
                  </a:cubicBezTo>
                  <a:cubicBezTo>
                    <a:pt x="382689" y="168439"/>
                    <a:pt x="361803" y="177090"/>
                    <a:pt x="340025" y="177090"/>
                  </a:cubicBezTo>
                  <a:lnTo>
                    <a:pt x="82114" y="177090"/>
                  </a:lnTo>
                  <a:cubicBezTo>
                    <a:pt x="36764" y="177090"/>
                    <a:pt x="0" y="140327"/>
                    <a:pt x="0" y="94977"/>
                  </a:cubicBezTo>
                  <a:lnTo>
                    <a:pt x="0" y="82114"/>
                  </a:lnTo>
                  <a:cubicBezTo>
                    <a:pt x="0" y="60336"/>
                    <a:pt x="8651" y="39450"/>
                    <a:pt x="24051" y="24051"/>
                  </a:cubicBezTo>
                  <a:cubicBezTo>
                    <a:pt x="39450" y="8651"/>
                    <a:pt x="60336" y="0"/>
                    <a:pt x="82114" y="0"/>
                  </a:cubicBezTo>
                  <a:close/>
                </a:path>
              </a:pathLst>
            </a:custGeom>
            <a:solidFill>
              <a:srgbClr val="A4B9FB"/>
            </a:solidFill>
            <a:ln w="38100" cap="sq">
              <a:solidFill>
                <a:srgbClr val="064D6D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422139" cy="234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r>
                <a:rPr lang="en-US" sz="253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ROC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 rot="2036311">
            <a:off x="15457643" y="6329444"/>
            <a:ext cx="3325129" cy="672390"/>
            <a:chOff x="0" y="0"/>
            <a:chExt cx="875754" cy="1770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75754" cy="177090"/>
            </a:xfrm>
            <a:custGeom>
              <a:avLst/>
              <a:gdLst/>
              <a:ahLst/>
              <a:cxnLst/>
              <a:rect l="l" t="t" r="r" b="b"/>
              <a:pathLst>
                <a:path w="875754" h="177090">
                  <a:moveTo>
                    <a:pt x="39581" y="0"/>
                  </a:moveTo>
                  <a:lnTo>
                    <a:pt x="836173" y="0"/>
                  </a:lnTo>
                  <a:cubicBezTo>
                    <a:pt x="846670" y="0"/>
                    <a:pt x="856738" y="4170"/>
                    <a:pt x="864161" y="11593"/>
                  </a:cubicBezTo>
                  <a:cubicBezTo>
                    <a:pt x="871584" y="19016"/>
                    <a:pt x="875754" y="29084"/>
                    <a:pt x="875754" y="39581"/>
                  </a:cubicBezTo>
                  <a:lnTo>
                    <a:pt x="875754" y="137509"/>
                  </a:lnTo>
                  <a:cubicBezTo>
                    <a:pt x="875754" y="148007"/>
                    <a:pt x="871584" y="158075"/>
                    <a:pt x="864161" y="165497"/>
                  </a:cubicBezTo>
                  <a:cubicBezTo>
                    <a:pt x="856738" y="172920"/>
                    <a:pt x="846670" y="177090"/>
                    <a:pt x="836173" y="177090"/>
                  </a:cubicBezTo>
                  <a:lnTo>
                    <a:pt x="39581" y="177090"/>
                  </a:lnTo>
                  <a:cubicBezTo>
                    <a:pt x="29084" y="177090"/>
                    <a:pt x="19016" y="172920"/>
                    <a:pt x="11593" y="165497"/>
                  </a:cubicBezTo>
                  <a:cubicBezTo>
                    <a:pt x="4170" y="158075"/>
                    <a:pt x="0" y="148007"/>
                    <a:pt x="0" y="137509"/>
                  </a:cubicBezTo>
                  <a:lnTo>
                    <a:pt x="0" y="39581"/>
                  </a:lnTo>
                  <a:cubicBezTo>
                    <a:pt x="0" y="29084"/>
                    <a:pt x="4170" y="19016"/>
                    <a:pt x="11593" y="11593"/>
                  </a:cubicBezTo>
                  <a:cubicBezTo>
                    <a:pt x="19016" y="4170"/>
                    <a:pt x="29084" y="0"/>
                    <a:pt x="39581" y="0"/>
                  </a:cubicBezTo>
                  <a:close/>
                </a:path>
              </a:pathLst>
            </a:custGeom>
            <a:solidFill>
              <a:srgbClr val="A4B9FB"/>
            </a:solidFill>
            <a:ln w="38100" cap="sq">
              <a:solidFill>
                <a:srgbClr val="064D6D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875754" cy="234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43"/>
                </a:lnSpc>
              </a:pPr>
              <a:r>
                <a:rPr lang="en-US" sz="253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Confusion Matrix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7753" y="2374811"/>
            <a:ext cx="10934607" cy="7912189"/>
          </a:xfrm>
          <a:custGeom>
            <a:avLst/>
            <a:gdLst/>
            <a:ahLst/>
            <a:cxnLst/>
            <a:rect l="l" t="t" r="r" b="b"/>
            <a:pathLst>
              <a:path w="10934607" h="7912189">
                <a:moveTo>
                  <a:pt x="0" y="0"/>
                </a:moveTo>
                <a:lnTo>
                  <a:pt x="10934606" y="0"/>
                </a:lnTo>
                <a:lnTo>
                  <a:pt x="10934606" y="7912189"/>
                </a:lnTo>
                <a:lnTo>
                  <a:pt x="0" y="79121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39315" y="1766159"/>
            <a:ext cx="5697099" cy="8288214"/>
          </a:xfrm>
          <a:custGeom>
            <a:avLst/>
            <a:gdLst/>
            <a:ahLst/>
            <a:cxnLst/>
            <a:rect l="l" t="t" r="r" b="b"/>
            <a:pathLst>
              <a:path w="5697099" h="8288214">
                <a:moveTo>
                  <a:pt x="0" y="0"/>
                </a:moveTo>
                <a:lnTo>
                  <a:pt x="5697098" y="0"/>
                </a:lnTo>
                <a:lnTo>
                  <a:pt x="5697098" y="8288214"/>
                </a:lnTo>
                <a:lnTo>
                  <a:pt x="0" y="8288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77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487063" y="76200"/>
            <a:ext cx="11754878" cy="1283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6"/>
              </a:lnSpc>
            </a:pPr>
            <a:r>
              <a:rPr lang="en-US" sz="8952" b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BUSINESS </a:t>
            </a:r>
            <a:r>
              <a:rPr lang="en-US" sz="8952" b="1">
                <a:solidFill>
                  <a:srgbClr val="004AAD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INSIGHTS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7753" y="1311998"/>
            <a:ext cx="16230600" cy="132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6"/>
              </a:lnSpc>
            </a:pPr>
            <a:r>
              <a:rPr lang="en-US" sz="25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machine learning models provide valuable insights that help the business understand customers better and take data-driven actions.</a:t>
            </a:r>
          </a:p>
          <a:p>
            <a:pPr algn="l">
              <a:lnSpc>
                <a:spcPts val="3566"/>
              </a:lnSpc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43500"/>
            <a:ext cx="18288000" cy="5143500"/>
            <a:chOff x="0" y="0"/>
            <a:chExt cx="4816593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54667"/>
            </a:xfrm>
            <a:custGeom>
              <a:avLst/>
              <a:gdLst/>
              <a:ahLst/>
              <a:cxnLst/>
              <a:rect l="l" t="t" r="r" b="b"/>
              <a:pathLst>
                <a:path w="4816592" h="1354667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0135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607595"/>
            <a:ext cx="16230600" cy="8650705"/>
            <a:chOff x="0" y="0"/>
            <a:chExt cx="4274726" cy="22783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278375"/>
            </a:xfrm>
            <a:custGeom>
              <a:avLst/>
              <a:gdLst/>
              <a:ahLst/>
              <a:cxnLst/>
              <a:rect l="l" t="t" r="r" b="b"/>
              <a:pathLst>
                <a:path w="4274726" h="227837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54048"/>
                  </a:lnTo>
                  <a:cubicBezTo>
                    <a:pt x="4274726" y="2260500"/>
                    <a:pt x="4272163" y="2266688"/>
                    <a:pt x="4267601" y="2271250"/>
                  </a:cubicBezTo>
                  <a:cubicBezTo>
                    <a:pt x="4263039" y="2275812"/>
                    <a:pt x="4256851" y="2278375"/>
                    <a:pt x="4250399" y="2278375"/>
                  </a:cubicBezTo>
                  <a:lnTo>
                    <a:pt x="24327" y="2278375"/>
                  </a:lnTo>
                  <a:cubicBezTo>
                    <a:pt x="10891" y="2278375"/>
                    <a:pt x="0" y="2267484"/>
                    <a:pt x="0" y="225404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31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68125" y="2285520"/>
            <a:ext cx="8297872" cy="5723912"/>
          </a:xfrm>
          <a:custGeom>
            <a:avLst/>
            <a:gdLst/>
            <a:ahLst/>
            <a:cxnLst/>
            <a:rect l="l" t="t" r="r" b="b"/>
            <a:pathLst>
              <a:path w="8297872" h="5723912">
                <a:moveTo>
                  <a:pt x="0" y="0"/>
                </a:moveTo>
                <a:lnTo>
                  <a:pt x="8297872" y="0"/>
                </a:lnTo>
                <a:lnTo>
                  <a:pt x="8297872" y="5723912"/>
                </a:lnTo>
                <a:lnTo>
                  <a:pt x="0" y="5723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959183" y="2404089"/>
            <a:ext cx="7032371" cy="5311161"/>
          </a:xfrm>
          <a:custGeom>
            <a:avLst/>
            <a:gdLst/>
            <a:ahLst/>
            <a:cxnLst/>
            <a:rect l="l" t="t" r="r" b="b"/>
            <a:pathLst>
              <a:path w="7032371" h="5311161">
                <a:moveTo>
                  <a:pt x="0" y="0"/>
                </a:moveTo>
                <a:lnTo>
                  <a:pt x="7032371" y="0"/>
                </a:lnTo>
                <a:lnTo>
                  <a:pt x="7032371" y="5311161"/>
                </a:lnTo>
                <a:lnTo>
                  <a:pt x="0" y="5311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352902" y="8009432"/>
            <a:ext cx="11582195" cy="1841738"/>
          </a:xfrm>
          <a:custGeom>
            <a:avLst/>
            <a:gdLst/>
            <a:ahLst/>
            <a:cxnLst/>
            <a:rect l="l" t="t" r="r" b="b"/>
            <a:pathLst>
              <a:path w="11582195" h="1841738">
                <a:moveTo>
                  <a:pt x="0" y="0"/>
                </a:moveTo>
                <a:lnTo>
                  <a:pt x="11582196" y="0"/>
                </a:lnTo>
                <a:lnTo>
                  <a:pt x="11582196" y="1841737"/>
                </a:lnTo>
                <a:lnTo>
                  <a:pt x="0" y="1841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997528" y="857250"/>
            <a:ext cx="6412260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346</Words>
  <Application>Microsoft Office PowerPoint</Application>
  <PresentationFormat>Custom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Calibri</vt:lpstr>
      <vt:lpstr>IBM Plex Sans Condensed Bold</vt:lpstr>
      <vt:lpstr>IBM Plex Sans Bold</vt:lpstr>
      <vt:lpstr>IBM Plex Sans Bold Italics</vt:lpstr>
      <vt:lpstr>IBM Plex Sans</vt:lpstr>
      <vt:lpstr>Canva Sans</vt:lpstr>
      <vt:lpstr>Arimo</vt:lpstr>
      <vt:lpstr>IBM Plex Sans Condensed</vt:lpstr>
      <vt:lpstr>Canva Sans Bold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Orange Modern Customer Service Presentation</dc:title>
  <dc:creator>Dell</dc:creator>
  <cp:lastModifiedBy>Dell</cp:lastModifiedBy>
  <cp:revision>2</cp:revision>
  <dcterms:created xsi:type="dcterms:W3CDTF">2006-08-16T00:00:00Z</dcterms:created>
  <dcterms:modified xsi:type="dcterms:W3CDTF">2026-07-19T19:39:09Z</dcterms:modified>
  <dc:identifier>DAHPwAbYYMs</dc:identifier>
</cp:coreProperties>
</file>